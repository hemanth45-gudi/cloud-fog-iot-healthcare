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0"/>
  </p:notesMasterIdLst>
  <p:sldIdLst>
    <p:sldId id="260" r:id="rId2"/>
    <p:sldId id="269" r:id="rId3"/>
    <p:sldId id="268" r:id="rId4"/>
    <p:sldId id="271" r:id="rId5"/>
    <p:sldId id="258" r:id="rId6"/>
    <p:sldId id="257" r:id="rId7"/>
    <p:sldId id="261" r:id="rId8"/>
    <p:sldId id="256" r:id="rId9"/>
    <p:sldId id="259" r:id="rId10"/>
    <p:sldId id="262" r:id="rId11"/>
    <p:sldId id="263" r:id="rId12"/>
    <p:sldId id="264" r:id="rId13"/>
    <p:sldId id="265" r:id="rId14"/>
    <p:sldId id="272" r:id="rId15"/>
    <p:sldId id="273" r:id="rId16"/>
    <p:sldId id="266" r:id="rId17"/>
    <p:sldId id="267" r:id="rId18"/>
    <p:sldId id="27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6BB"/>
    <a:srgbClr val="FBDC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72" d="100"/>
          <a:sy n="72" d="100"/>
        </p:scale>
        <p:origin x="855" y="3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ADCE21-53B7-416A-8ADE-EE884F161AD6}" type="datetimeFigureOut">
              <a:rPr lang="en-IN" smtClean="0"/>
              <a:t>20-10-2025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0A7D65-2C71-4DB6-A205-40D2D24E6650}" type="slidenum">
              <a:rPr lang="en-IN" smtClean="0"/>
              <a:t>‹#›</a:t>
            </a:fld>
            <a:endParaRPr lang="en-IN"/>
          </a:p>
        </p:txBody>
      </p:sp>
    </p:spTree>
    <p:extLst>
      <p:ext uri="{BB962C8B-B14F-4D97-AF65-F5344CB8AC3E}">
        <p14:creationId xmlns:p14="http://schemas.microsoft.com/office/powerpoint/2010/main" val="1242732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C0A7D65-2C71-4DB6-A205-40D2D24E6650}" type="slidenum">
              <a:rPr lang="en-IN" smtClean="0"/>
              <a:t>6</a:t>
            </a:fld>
            <a:endParaRPr lang="en-IN"/>
          </a:p>
        </p:txBody>
      </p:sp>
    </p:spTree>
    <p:extLst>
      <p:ext uri="{BB962C8B-B14F-4D97-AF65-F5344CB8AC3E}">
        <p14:creationId xmlns:p14="http://schemas.microsoft.com/office/powerpoint/2010/main" val="42435208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C0A7D65-2C71-4DB6-A205-40D2D24E6650}" type="slidenum">
              <a:rPr lang="en-IN" smtClean="0"/>
              <a:t>7</a:t>
            </a:fld>
            <a:endParaRPr lang="en-IN"/>
          </a:p>
        </p:txBody>
      </p:sp>
    </p:spTree>
    <p:extLst>
      <p:ext uri="{BB962C8B-B14F-4D97-AF65-F5344CB8AC3E}">
        <p14:creationId xmlns:p14="http://schemas.microsoft.com/office/powerpoint/2010/main" val="3888973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dirty="0"/>
              <a:pPr/>
              <a:t>10/20/2025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dirty="0"/>
              <a:pPr/>
              <a:t>10/20/2025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10/20/2025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dirty="0"/>
              <a:pPr/>
              <a:t>10/20/2025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dirty="0"/>
              <a:pPr/>
              <a:t>10/20/2025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dirty="0"/>
              <a:pPr/>
              <a:t>10/20/2025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10/20/2025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10/20/2025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10/20/2025</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10/20/2025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10/20/2025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10/20/2025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dirty="0"/>
              <a:pPr/>
              <a:t>10/20/2025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dirty="0"/>
              <a:pPr/>
              <a:t>10/20/2025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10/20/2025</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71D1A-80CC-C9CA-5611-4B25B426052D}"/>
              </a:ext>
            </a:extLst>
          </p:cNvPr>
          <p:cNvSpPr>
            <a:spLocks noGrp="1"/>
          </p:cNvSpPr>
          <p:nvPr>
            <p:ph type="title"/>
          </p:nvPr>
        </p:nvSpPr>
        <p:spPr/>
        <p:txBody>
          <a:bodyPr/>
          <a:lstStyle/>
          <a:p>
            <a:pPr algn="ctr"/>
            <a:r>
              <a:rPr lang="en-IN" b="0" dirty="0">
                <a:solidFill>
                  <a:schemeClr val="bg2"/>
                </a:solidFill>
              </a:rPr>
              <a:t>INTELLIGENT HEALTHCARE 4.0</a:t>
            </a:r>
            <a:endParaRPr lang="en-IN" dirty="0">
              <a:solidFill>
                <a:schemeClr val="bg2"/>
              </a:solidFill>
            </a:endParaRPr>
          </a:p>
        </p:txBody>
      </p:sp>
      <p:sp>
        <p:nvSpPr>
          <p:cNvPr id="3" name="Content Placeholder 2">
            <a:extLst>
              <a:ext uri="{FF2B5EF4-FFF2-40B4-BE49-F238E27FC236}">
                <a16:creationId xmlns:a16="http://schemas.microsoft.com/office/drawing/2014/main" id="{93668329-175C-D4B7-58CA-8B695AC9A416}"/>
              </a:ext>
            </a:extLst>
          </p:cNvPr>
          <p:cNvSpPr>
            <a:spLocks noGrp="1"/>
          </p:cNvSpPr>
          <p:nvPr>
            <p:ph idx="1"/>
          </p:nvPr>
        </p:nvSpPr>
        <p:spPr>
          <a:xfrm>
            <a:off x="72887" y="2222287"/>
            <a:ext cx="11960087" cy="3636511"/>
          </a:xfrm>
        </p:spPr>
        <p:txBody>
          <a:bodyPr>
            <a:normAutofit/>
          </a:bodyPr>
          <a:lstStyle/>
          <a:p>
            <a:pPr marL="0" indent="0" algn="ctr">
              <a:buNone/>
            </a:pPr>
            <a:r>
              <a:rPr lang="en-US" sz="4800" b="1" dirty="0">
                <a:solidFill>
                  <a:schemeClr val="accent3">
                    <a:lumMod val="60000"/>
                    <a:lumOff val="40000"/>
                  </a:schemeClr>
                </a:solidFill>
              </a:rPr>
              <a:t> CLOUD-FOG BASED HEALTHCARE IOT WITH INTELLIGENT ML MODEL</a:t>
            </a:r>
            <a:endParaRPr lang="en-IN" sz="4800" b="1" dirty="0">
              <a:solidFill>
                <a:schemeClr val="accent3">
                  <a:lumMod val="60000"/>
                  <a:lumOff val="40000"/>
                </a:schemeClr>
              </a:solidFill>
            </a:endParaRPr>
          </a:p>
        </p:txBody>
      </p:sp>
      <p:sp>
        <p:nvSpPr>
          <p:cNvPr id="4" name="TextBox 3">
            <a:extLst>
              <a:ext uri="{FF2B5EF4-FFF2-40B4-BE49-F238E27FC236}">
                <a16:creationId xmlns:a16="http://schemas.microsoft.com/office/drawing/2014/main" id="{588B5584-B673-200A-A57A-FCFB50773FE4}"/>
              </a:ext>
            </a:extLst>
          </p:cNvPr>
          <p:cNvSpPr txBox="1"/>
          <p:nvPr/>
        </p:nvSpPr>
        <p:spPr>
          <a:xfrm>
            <a:off x="2372138" y="5075582"/>
            <a:ext cx="7447721" cy="1661993"/>
          </a:xfrm>
          <a:prstGeom prst="rect">
            <a:avLst/>
          </a:prstGeom>
          <a:noFill/>
        </p:spPr>
        <p:txBody>
          <a:bodyPr wrap="square" rtlCol="0">
            <a:spAutoFit/>
          </a:bodyPr>
          <a:lstStyle/>
          <a:p>
            <a:pPr algn="ctr">
              <a:lnSpc>
                <a:spcPts val="3577"/>
              </a:lnSpc>
              <a:spcBef>
                <a:spcPct val="0"/>
              </a:spcBef>
            </a:pPr>
            <a:r>
              <a:rPr lang="en-US" sz="1400" b="1" dirty="0">
                <a:solidFill>
                  <a:schemeClr val="accent2">
                    <a:lumMod val="60000"/>
                    <a:lumOff val="40000"/>
                  </a:schemeClr>
                </a:solidFill>
                <a:latin typeface="TT Hoves Bold"/>
                <a:ea typeface="TT Hoves Bold"/>
                <a:cs typeface="TT Hoves Bold"/>
                <a:sym typeface="TT Hoves Bold"/>
              </a:rPr>
              <a:t>AUTHORS: RANDA M.ABDELMONEEM, ABDERRAHIM BENSLIMANE† , EMAN SHAABAN , SHERIN ABDELHAMID AND SALMA GHONEIM(ICCC)</a:t>
            </a:r>
          </a:p>
          <a:p>
            <a:pPr algn="ctr">
              <a:lnSpc>
                <a:spcPts val="3577"/>
              </a:lnSpc>
              <a:spcBef>
                <a:spcPct val="0"/>
              </a:spcBef>
            </a:pPr>
            <a:r>
              <a:rPr lang="en-US" sz="1400" b="1" dirty="0">
                <a:solidFill>
                  <a:schemeClr val="accent2">
                    <a:lumMod val="60000"/>
                    <a:lumOff val="40000"/>
                  </a:schemeClr>
                </a:solidFill>
                <a:latin typeface="TT Hoves Bold"/>
                <a:ea typeface="TT Hoves Bold"/>
                <a:cs typeface="TT Hoves Bold"/>
                <a:sym typeface="TT Hoves Bold"/>
              </a:rPr>
              <a:t>JOURNEL: INTERNATIONAL CARPATHIAN CONTROL CONFERENCE (ICCC)</a:t>
            </a:r>
          </a:p>
          <a:p>
            <a:endParaRPr lang="en-IN" sz="1050" dirty="0">
              <a:solidFill>
                <a:schemeClr val="accent2">
                  <a:lumMod val="60000"/>
                  <a:lumOff val="40000"/>
                </a:schemeClr>
              </a:solidFill>
            </a:endParaRPr>
          </a:p>
        </p:txBody>
      </p:sp>
    </p:spTree>
    <p:extLst>
      <p:ext uri="{BB962C8B-B14F-4D97-AF65-F5344CB8AC3E}">
        <p14:creationId xmlns:p14="http://schemas.microsoft.com/office/powerpoint/2010/main" val="803674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0AE98-BB17-DB05-4549-96C066FDE3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95CB0D-AC95-53FB-96D4-B06DEEE7D112}"/>
              </a:ext>
            </a:extLst>
          </p:cNvPr>
          <p:cNvSpPr>
            <a:spLocks noGrp="1"/>
          </p:cNvSpPr>
          <p:nvPr>
            <p:ph type="title"/>
          </p:nvPr>
        </p:nvSpPr>
        <p:spPr>
          <a:xfrm>
            <a:off x="99390" y="801757"/>
            <a:ext cx="11993218" cy="1179443"/>
          </a:xfrm>
        </p:spPr>
        <p:txBody>
          <a:bodyPr/>
          <a:lstStyle/>
          <a:p>
            <a:pPr algn="ctr"/>
            <a:r>
              <a:rPr lang="en-US" sz="3600" b="0" dirty="0">
                <a:solidFill>
                  <a:schemeClr val="bg2"/>
                </a:solidFill>
              </a:rPr>
              <a:t>PROBLEM Statement </a:t>
            </a:r>
            <a:br>
              <a:rPr lang="en-US" sz="3600" b="0" dirty="0">
                <a:solidFill>
                  <a:schemeClr val="bg2"/>
                </a:solidFill>
              </a:rPr>
            </a:br>
            <a:endParaRPr lang="en-IN" sz="3600" b="0" dirty="0">
              <a:solidFill>
                <a:schemeClr val="bg2"/>
              </a:solidFill>
            </a:endParaRPr>
          </a:p>
        </p:txBody>
      </p:sp>
      <p:sp>
        <p:nvSpPr>
          <p:cNvPr id="3" name="Content Placeholder 2">
            <a:extLst>
              <a:ext uri="{FF2B5EF4-FFF2-40B4-BE49-F238E27FC236}">
                <a16:creationId xmlns:a16="http://schemas.microsoft.com/office/drawing/2014/main" id="{8B1C63FD-1C4B-24FF-EB9D-63DD24BCE01A}"/>
              </a:ext>
            </a:extLst>
          </p:cNvPr>
          <p:cNvSpPr>
            <a:spLocks noGrp="1"/>
          </p:cNvSpPr>
          <p:nvPr>
            <p:ph idx="1"/>
          </p:nvPr>
        </p:nvSpPr>
        <p:spPr>
          <a:xfrm>
            <a:off x="99391" y="2222287"/>
            <a:ext cx="11915628" cy="4635713"/>
          </a:xfrm>
        </p:spPr>
        <p:txBody>
          <a:bodyPr>
            <a:normAutofit/>
          </a:bodyPr>
          <a:lstStyle/>
          <a:p>
            <a:pPr>
              <a:buFont typeface="Wingdings" panose="05000000000000000000" pitchFamily="2" charset="2"/>
              <a:buChar char="q"/>
            </a:pPr>
            <a:r>
              <a:rPr lang="en-IN" b="1" dirty="0"/>
              <a:t>Critical Problem:</a:t>
            </a:r>
            <a:br>
              <a:rPr lang="en-IN" dirty="0"/>
            </a:br>
            <a:r>
              <a:rPr lang="en-IN" dirty="0"/>
              <a:t>Current healthcare IoT systems process all patient data through distant cloud servers, causing dangerous delays (150ms+) in emergency situations and overwhelming medical staff with non-urgent alerts.</a:t>
            </a:r>
          </a:p>
          <a:p>
            <a:pPr>
              <a:buFont typeface="Wingdings" panose="05000000000000000000" pitchFamily="2" charset="2"/>
              <a:buChar char="q"/>
            </a:pPr>
            <a:r>
              <a:rPr lang="en-IN" b="1" dirty="0"/>
              <a:t>Intelligent Solution:</a:t>
            </a:r>
            <a:br>
              <a:rPr lang="en-IN" dirty="0"/>
            </a:br>
            <a:r>
              <a:rPr lang="en-IN" dirty="0"/>
              <a:t>Our </a:t>
            </a:r>
            <a:r>
              <a:rPr lang="en-IN" b="1" dirty="0"/>
              <a:t>computational intelligence edge model</a:t>
            </a:r>
            <a:r>
              <a:rPr lang="en-IN" dirty="0"/>
              <a:t> implements real-time medical prioritization using hybrid WSM+MBAR algorithms. so this results in </a:t>
            </a:r>
            <a:r>
              <a:rPr lang="en-US" b="1" dirty="0">
                <a:latin typeface="+mj-lt"/>
              </a:rPr>
              <a:t>Faster life-saving interventions</a:t>
            </a:r>
            <a:r>
              <a:rPr lang="en-US" dirty="0">
                <a:latin typeface="+mj-lt"/>
              </a:rPr>
              <a:t> and efficient medical resource utilization.</a:t>
            </a:r>
            <a:r>
              <a:rPr lang="en-IN" dirty="0">
                <a:latin typeface="+mj-lt"/>
              </a:rPr>
              <a:t> </a:t>
            </a:r>
          </a:p>
        </p:txBody>
      </p:sp>
    </p:spTree>
    <p:extLst>
      <p:ext uri="{BB962C8B-B14F-4D97-AF65-F5344CB8AC3E}">
        <p14:creationId xmlns:p14="http://schemas.microsoft.com/office/powerpoint/2010/main" val="4994835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6BE46-CDA1-D0A0-0781-677A5C1583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785EFF-EA5D-AC3A-CD2D-EB96E705795D}"/>
              </a:ext>
            </a:extLst>
          </p:cNvPr>
          <p:cNvSpPr>
            <a:spLocks noGrp="1"/>
          </p:cNvSpPr>
          <p:nvPr>
            <p:ph type="title"/>
          </p:nvPr>
        </p:nvSpPr>
        <p:spPr>
          <a:xfrm>
            <a:off x="99390" y="801757"/>
            <a:ext cx="11993218" cy="1179443"/>
          </a:xfrm>
        </p:spPr>
        <p:txBody>
          <a:bodyPr/>
          <a:lstStyle/>
          <a:p>
            <a:pPr algn="ctr"/>
            <a:r>
              <a:rPr lang="en-US" sz="3600" b="0" dirty="0">
                <a:solidFill>
                  <a:schemeClr val="bg2"/>
                </a:solidFill>
              </a:rPr>
              <a:t>What does our edge model do ?</a:t>
            </a:r>
            <a:br>
              <a:rPr lang="en-US" sz="3600" b="0" dirty="0">
                <a:solidFill>
                  <a:schemeClr val="bg2"/>
                </a:solidFill>
              </a:rPr>
            </a:br>
            <a:endParaRPr lang="en-IN" sz="3600" b="0" dirty="0">
              <a:solidFill>
                <a:schemeClr val="bg2"/>
              </a:solidFill>
            </a:endParaRPr>
          </a:p>
        </p:txBody>
      </p:sp>
      <p:sp>
        <p:nvSpPr>
          <p:cNvPr id="3" name="Content Placeholder 2">
            <a:extLst>
              <a:ext uri="{FF2B5EF4-FFF2-40B4-BE49-F238E27FC236}">
                <a16:creationId xmlns:a16="http://schemas.microsoft.com/office/drawing/2014/main" id="{3A9B9A87-5A58-BB4A-7E8F-6CE11D000D69}"/>
              </a:ext>
            </a:extLst>
          </p:cNvPr>
          <p:cNvSpPr>
            <a:spLocks noGrp="1"/>
          </p:cNvSpPr>
          <p:nvPr>
            <p:ph idx="1"/>
          </p:nvPr>
        </p:nvSpPr>
        <p:spPr>
          <a:xfrm>
            <a:off x="99391" y="2222287"/>
            <a:ext cx="11630493" cy="4635713"/>
          </a:xfrm>
        </p:spPr>
        <p:txBody>
          <a:bodyPr>
            <a:normAutofit/>
          </a:bodyPr>
          <a:lstStyle/>
          <a:p>
            <a:pPr>
              <a:buFont typeface="Wingdings" panose="05000000000000000000" pitchFamily="2" charset="2"/>
              <a:buChar char="q"/>
            </a:pPr>
            <a:r>
              <a:rPr lang="en-US" sz="2200" dirty="0">
                <a:solidFill>
                  <a:schemeClr val="accent6">
                    <a:lumMod val="20000"/>
                    <a:lumOff val="80000"/>
                  </a:schemeClr>
                </a:solidFill>
              </a:rPr>
              <a:t>Our edge model serves as an intelligent decision-making layer in healthcare IoT systems, acting as a real-time medical triage system that processes patient data at the network edge.</a:t>
            </a:r>
          </a:p>
          <a:p>
            <a:pPr>
              <a:buFont typeface="Wingdings" panose="05000000000000000000" pitchFamily="2" charset="2"/>
              <a:buChar char="q"/>
            </a:pPr>
            <a:r>
              <a:rPr lang="en-US" sz="2200" dirty="0">
                <a:solidFill>
                  <a:schemeClr val="accent6">
                    <a:lumMod val="20000"/>
                    <a:lumOff val="80000"/>
                  </a:schemeClr>
                </a:solidFill>
              </a:rPr>
              <a:t>It utilizes computational intelligence through hybrid WSM and MBAR algorithms to instantly analyze medical tasks, prioritize critical cases, and dynamically allocate them between fog nodes and cloud infrastructure.</a:t>
            </a:r>
          </a:p>
          <a:p>
            <a:pPr>
              <a:buFont typeface="Wingdings" panose="05000000000000000000" pitchFamily="2" charset="2"/>
              <a:buChar char="q"/>
            </a:pPr>
            <a:r>
              <a:rPr lang="en-US" sz="2200" dirty="0">
                <a:solidFill>
                  <a:schemeClr val="accent6">
                    <a:lumMod val="20000"/>
                    <a:lumOff val="80000"/>
                  </a:schemeClr>
                </a:solidFill>
              </a:rPr>
              <a:t> By making smart allocation decisions based on urgency, deadlines, and system reliability, it ensures emergency patient conditions receive immediate low-latency processing while optimizing resource utilization across the entire healthcare monitoring ecosystem.</a:t>
            </a:r>
            <a:endParaRPr lang="en-IN" sz="2200" dirty="0"/>
          </a:p>
        </p:txBody>
      </p:sp>
    </p:spTree>
    <p:extLst>
      <p:ext uri="{BB962C8B-B14F-4D97-AF65-F5344CB8AC3E}">
        <p14:creationId xmlns:p14="http://schemas.microsoft.com/office/powerpoint/2010/main" val="3290804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AD5D2-8990-DCB6-E0B2-73304EB867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15C148-7E2D-202F-83E5-16386CE73E28}"/>
              </a:ext>
            </a:extLst>
          </p:cNvPr>
          <p:cNvSpPr>
            <a:spLocks noGrp="1"/>
          </p:cNvSpPr>
          <p:nvPr>
            <p:ph type="title"/>
          </p:nvPr>
        </p:nvSpPr>
        <p:spPr>
          <a:xfrm>
            <a:off x="99390" y="801757"/>
            <a:ext cx="11993218" cy="1179443"/>
          </a:xfrm>
        </p:spPr>
        <p:txBody>
          <a:bodyPr/>
          <a:lstStyle/>
          <a:p>
            <a:pPr algn="ctr"/>
            <a:r>
              <a:rPr lang="en-US" sz="3600" b="0" dirty="0">
                <a:solidFill>
                  <a:schemeClr val="bg2"/>
                </a:solidFill>
              </a:rPr>
              <a:t>THE IMPOSSIBLE TRIANGLE OF HEALTHCARE IOT</a:t>
            </a:r>
            <a:br>
              <a:rPr lang="en-US" sz="3600" b="0" dirty="0">
                <a:solidFill>
                  <a:schemeClr val="bg2"/>
                </a:solidFill>
              </a:rPr>
            </a:br>
            <a:endParaRPr lang="en-IN" sz="3600" b="0" dirty="0">
              <a:solidFill>
                <a:schemeClr val="bg2"/>
              </a:solidFill>
            </a:endParaRPr>
          </a:p>
        </p:txBody>
      </p:sp>
      <p:sp>
        <p:nvSpPr>
          <p:cNvPr id="3" name="Content Placeholder 2">
            <a:extLst>
              <a:ext uri="{FF2B5EF4-FFF2-40B4-BE49-F238E27FC236}">
                <a16:creationId xmlns:a16="http://schemas.microsoft.com/office/drawing/2014/main" id="{25514D9E-4518-0577-ECDD-F43E4A0898B7}"/>
              </a:ext>
            </a:extLst>
          </p:cNvPr>
          <p:cNvSpPr>
            <a:spLocks noGrp="1"/>
          </p:cNvSpPr>
          <p:nvPr>
            <p:ph idx="1"/>
          </p:nvPr>
        </p:nvSpPr>
        <p:spPr>
          <a:xfrm>
            <a:off x="99391" y="2222287"/>
            <a:ext cx="6612835" cy="4635713"/>
          </a:xfrm>
        </p:spPr>
        <p:txBody>
          <a:bodyPr>
            <a:normAutofit/>
          </a:bodyPr>
          <a:lstStyle/>
          <a:p>
            <a:pPr marL="0" indent="0">
              <a:buNone/>
            </a:pPr>
            <a:r>
              <a:rPr lang="en-IN" sz="3200" dirty="0">
                <a:solidFill>
                  <a:schemeClr val="accent6">
                    <a:lumMod val="20000"/>
                    <a:lumOff val="80000"/>
                  </a:schemeClr>
                </a:solidFill>
              </a:rPr>
              <a:t>The three conflicting demands:</a:t>
            </a:r>
          </a:p>
          <a:p>
            <a:pPr marL="0" indent="0">
              <a:buNone/>
            </a:pPr>
            <a:r>
              <a:rPr lang="en-IN" dirty="0">
                <a:solidFill>
                  <a:schemeClr val="accent2">
                    <a:lumMod val="75000"/>
                  </a:schemeClr>
                </a:solidFill>
              </a:rPr>
              <a:t>LOW LATENCY:</a:t>
            </a:r>
          </a:p>
          <a:p>
            <a:pPr latinLnBrk="1">
              <a:buFont typeface="Wingdings" panose="05000000000000000000" pitchFamily="2" charset="2"/>
              <a:buChar char="§"/>
            </a:pPr>
            <a:r>
              <a:rPr lang="en-US" dirty="0"/>
              <a:t> Cardiac emergencies need &lt;100ms response</a:t>
            </a:r>
          </a:p>
          <a:p>
            <a:pPr latinLnBrk="1">
              <a:buFont typeface="Wingdings" panose="05000000000000000000" pitchFamily="2" charset="2"/>
              <a:buChar char="§"/>
            </a:pPr>
            <a:r>
              <a:rPr lang="en-US" dirty="0"/>
              <a:t> Real-time processing requirements</a:t>
            </a:r>
          </a:p>
          <a:p>
            <a:pPr latinLnBrk="1">
              <a:buFont typeface="Wingdings" panose="05000000000000000000" pitchFamily="2" charset="2"/>
              <a:buChar char="§"/>
            </a:pPr>
            <a:r>
              <a:rPr lang="en-US" dirty="0"/>
              <a:t> Instant emergency detection</a:t>
            </a:r>
          </a:p>
          <a:p>
            <a:pPr marL="0" indent="0" latinLnBrk="1">
              <a:buNone/>
            </a:pPr>
            <a:r>
              <a:rPr lang="en-US" dirty="0">
                <a:solidFill>
                  <a:schemeClr val="accent2">
                    <a:lumMod val="75000"/>
                  </a:schemeClr>
                </a:solidFill>
              </a:rPr>
              <a:t> HIGH ACCURACY:</a:t>
            </a:r>
          </a:p>
          <a:p>
            <a:pPr latinLnBrk="1">
              <a:buFont typeface="Wingdings" panose="05000000000000000000" pitchFamily="2" charset="2"/>
              <a:buChar char="§"/>
            </a:pPr>
            <a:r>
              <a:rPr lang="en-US" dirty="0"/>
              <a:t> Medical decisions demand 99%+ accuracy</a:t>
            </a:r>
          </a:p>
          <a:p>
            <a:pPr latinLnBrk="1">
              <a:buFont typeface="Wingdings" panose="05000000000000000000" pitchFamily="2" charset="2"/>
              <a:buChar char="§"/>
            </a:pPr>
            <a:r>
              <a:rPr lang="en-US" dirty="0"/>
              <a:t> Zero false negatives in critical cases</a:t>
            </a:r>
          </a:p>
          <a:p>
            <a:pPr latinLnBrk="1">
              <a:buFont typeface="Wingdings" panose="05000000000000000000" pitchFamily="2" charset="2"/>
              <a:buChar char="§"/>
            </a:pPr>
            <a:r>
              <a:rPr lang="en-US" dirty="0"/>
              <a:t> Reliable pattern recognition</a:t>
            </a:r>
          </a:p>
          <a:p>
            <a:pPr marL="0" indent="0">
              <a:buNone/>
            </a:pPr>
            <a:endParaRPr lang="en-IN" dirty="0"/>
          </a:p>
        </p:txBody>
      </p:sp>
      <p:sp>
        <p:nvSpPr>
          <p:cNvPr id="4" name="TextBox 3">
            <a:extLst>
              <a:ext uri="{FF2B5EF4-FFF2-40B4-BE49-F238E27FC236}">
                <a16:creationId xmlns:a16="http://schemas.microsoft.com/office/drawing/2014/main" id="{7C9C3977-05C3-6978-D2C9-481E709EC759}"/>
              </a:ext>
            </a:extLst>
          </p:cNvPr>
          <p:cNvSpPr txBox="1"/>
          <p:nvPr/>
        </p:nvSpPr>
        <p:spPr>
          <a:xfrm>
            <a:off x="7056782" y="3032038"/>
            <a:ext cx="6095999" cy="3170099"/>
          </a:xfrm>
          <a:prstGeom prst="rect">
            <a:avLst/>
          </a:prstGeom>
          <a:noFill/>
        </p:spPr>
        <p:txBody>
          <a:bodyPr wrap="square" rtlCol="0">
            <a:spAutoFit/>
          </a:bodyPr>
          <a:lstStyle/>
          <a:p>
            <a:pPr latinLnBrk="1"/>
            <a:r>
              <a:rPr lang="en-US" sz="2000" dirty="0">
                <a:solidFill>
                  <a:schemeClr val="accent2">
                    <a:lumMod val="75000"/>
                  </a:schemeClr>
                </a:solidFill>
              </a:rPr>
              <a:t>COST EFFICIENCY</a:t>
            </a:r>
            <a:r>
              <a:rPr lang="en-US" sz="1600" dirty="0">
                <a:solidFill>
                  <a:schemeClr val="accent2">
                    <a:lumMod val="75000"/>
                  </a:schemeClr>
                </a:solidFill>
              </a:rPr>
              <a:t>:</a:t>
            </a:r>
          </a:p>
          <a:p>
            <a:pPr marL="285750" indent="-285750" latinLnBrk="1">
              <a:buSzPct val="110000"/>
              <a:buFont typeface="Wingdings" panose="05000000000000000000" pitchFamily="2" charset="2"/>
              <a:buChar char="§"/>
            </a:pPr>
            <a:r>
              <a:rPr lang="en-US" dirty="0"/>
              <a:t>Healthcare budget constraints</a:t>
            </a:r>
          </a:p>
          <a:p>
            <a:pPr marL="285750" indent="-285750" latinLnBrk="1">
              <a:buSzPct val="110000"/>
              <a:buFont typeface="Wingdings" panose="05000000000000000000" pitchFamily="2" charset="2"/>
              <a:buChar char="§"/>
            </a:pPr>
            <a:r>
              <a:rPr lang="en-US" dirty="0"/>
              <a:t>Scalable infrastructure needs</a:t>
            </a:r>
          </a:p>
          <a:p>
            <a:pPr marL="285750" indent="-285750" latinLnBrk="1">
              <a:buSzPct val="110000"/>
              <a:buFont typeface="Wingdings" panose="05000000000000000000" pitchFamily="2" charset="2"/>
              <a:buChar char="§"/>
            </a:pPr>
            <a:r>
              <a:rPr lang="en-US" dirty="0"/>
              <a:t>Sustainable long-term monitoring</a:t>
            </a:r>
          </a:p>
          <a:p>
            <a:pPr latinLnBrk="1">
              <a:buSzPct val="110000"/>
            </a:pPr>
            <a:endParaRPr lang="en-US" dirty="0"/>
          </a:p>
          <a:p>
            <a:pPr marL="285750" indent="-285750" latinLnBrk="1">
              <a:buSzPct val="110000"/>
              <a:buFont typeface="Wingdings" panose="05000000000000000000" pitchFamily="2" charset="2"/>
              <a:buChar char="§"/>
            </a:pPr>
            <a:endParaRPr lang="en-US" dirty="0"/>
          </a:p>
          <a:p>
            <a:pPr latinLnBrk="1">
              <a:buSzPct val="110000"/>
            </a:pPr>
            <a:r>
              <a:rPr lang="en-US" dirty="0">
                <a:solidFill>
                  <a:schemeClr val="accent1">
                    <a:lumMod val="60000"/>
                    <a:lumOff val="40000"/>
                  </a:schemeClr>
                </a:solidFill>
              </a:rPr>
              <a:t>                    low latency</a:t>
            </a:r>
          </a:p>
          <a:p>
            <a:pPr latinLnBrk="1">
              <a:buSzPct val="110000"/>
            </a:pPr>
            <a:r>
              <a:rPr lang="en-US" dirty="0">
                <a:solidFill>
                  <a:schemeClr val="accent1">
                    <a:lumMod val="60000"/>
                    <a:lumOff val="40000"/>
                  </a:schemeClr>
                </a:solidFill>
              </a:rPr>
              <a:t>                          / \</a:t>
            </a:r>
          </a:p>
          <a:p>
            <a:pPr latinLnBrk="1"/>
            <a:r>
              <a:rPr lang="en-US" dirty="0">
                <a:solidFill>
                  <a:schemeClr val="accent1">
                    <a:lumMod val="60000"/>
                    <a:lumOff val="40000"/>
                  </a:schemeClr>
                </a:solidFill>
              </a:rPr>
              <a:t>			   /     \ </a:t>
            </a:r>
          </a:p>
          <a:p>
            <a:pPr latinLnBrk="1"/>
            <a:r>
              <a:rPr lang="en-US" dirty="0">
                <a:solidFill>
                  <a:schemeClr val="accent1">
                    <a:lumMod val="60000"/>
                    <a:lumOff val="40000"/>
                  </a:schemeClr>
                </a:solidFill>
              </a:rPr>
              <a:t>			 /          \</a:t>
            </a:r>
          </a:p>
          <a:p>
            <a:pPr latinLnBrk="1"/>
            <a:r>
              <a:rPr lang="en-US" dirty="0">
                <a:solidFill>
                  <a:schemeClr val="accent1">
                    <a:lumMod val="60000"/>
                    <a:lumOff val="40000"/>
                  </a:schemeClr>
                </a:solidFill>
              </a:rPr>
              <a:t>high accuracy------cost efficiency	</a:t>
            </a:r>
          </a:p>
        </p:txBody>
      </p:sp>
    </p:spTree>
    <p:extLst>
      <p:ext uri="{BB962C8B-B14F-4D97-AF65-F5344CB8AC3E}">
        <p14:creationId xmlns:p14="http://schemas.microsoft.com/office/powerpoint/2010/main" val="174509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223F9-DE1E-CB42-FDCC-D1E9BC1997FC}"/>
              </a:ext>
            </a:extLst>
          </p:cNvPr>
          <p:cNvSpPr>
            <a:spLocks noGrp="1"/>
          </p:cNvSpPr>
          <p:nvPr>
            <p:ph type="title"/>
          </p:nvPr>
        </p:nvSpPr>
        <p:spPr>
          <a:xfrm>
            <a:off x="185530" y="999202"/>
            <a:ext cx="12138991" cy="970450"/>
          </a:xfrm>
        </p:spPr>
        <p:txBody>
          <a:bodyPr/>
          <a:lstStyle/>
          <a:p>
            <a:r>
              <a:rPr lang="en-US" b="0" dirty="0">
                <a:solidFill>
                  <a:schemeClr val="bg2"/>
                </a:solidFill>
              </a:rPr>
              <a:t>BREAKING TRIANGLE WITH EDGE INTELLIGENCE</a:t>
            </a:r>
            <a:br>
              <a:rPr lang="en-US" b="0" dirty="0">
                <a:solidFill>
                  <a:schemeClr val="bg2"/>
                </a:solidFill>
              </a:rPr>
            </a:br>
            <a:endParaRPr lang="en-IN" dirty="0">
              <a:solidFill>
                <a:schemeClr val="bg2"/>
              </a:solidFill>
            </a:endParaRPr>
          </a:p>
        </p:txBody>
      </p:sp>
      <p:sp>
        <p:nvSpPr>
          <p:cNvPr id="3" name="Content Placeholder 2">
            <a:extLst>
              <a:ext uri="{FF2B5EF4-FFF2-40B4-BE49-F238E27FC236}">
                <a16:creationId xmlns:a16="http://schemas.microsoft.com/office/drawing/2014/main" id="{924E96C7-95B8-78CB-A947-AEED4BDF5752}"/>
              </a:ext>
            </a:extLst>
          </p:cNvPr>
          <p:cNvSpPr>
            <a:spLocks noGrp="1"/>
          </p:cNvSpPr>
          <p:nvPr>
            <p:ph idx="1"/>
          </p:nvPr>
        </p:nvSpPr>
        <p:spPr>
          <a:xfrm>
            <a:off x="871721" y="2136148"/>
            <a:ext cx="10554574" cy="3636511"/>
          </a:xfrm>
        </p:spPr>
        <p:txBody>
          <a:bodyPr/>
          <a:lstStyle/>
          <a:p>
            <a:pPr marL="0" indent="0">
              <a:buNone/>
            </a:pPr>
            <a:r>
              <a:rPr lang="en-US" sz="2400" b="1" dirty="0"/>
              <a:t>CLOUD-FOG HIERARCHY + MEDICAL AI = SMART TRIAGE</a:t>
            </a:r>
          </a:p>
          <a:p>
            <a:pPr marL="0" indent="0">
              <a:buNone/>
            </a:pPr>
            <a:r>
              <a:rPr lang="en-US" sz="2800" b="1" dirty="0">
                <a:solidFill>
                  <a:schemeClr val="accent3">
                    <a:lumMod val="40000"/>
                    <a:lumOff val="60000"/>
                  </a:schemeClr>
                </a:solidFill>
              </a:rPr>
              <a:t>Fog Layer:                                   </a:t>
            </a:r>
            <a:endParaRPr lang="en-US" b="1" dirty="0">
              <a:solidFill>
                <a:schemeClr val="accent3">
                  <a:lumMod val="40000"/>
                  <a:lumOff val="60000"/>
                </a:schemeClr>
              </a:solidFill>
            </a:endParaRPr>
          </a:p>
          <a:p>
            <a:pPr>
              <a:buFont typeface="Courier New" panose="02070309020205020404" pitchFamily="49" charset="0"/>
              <a:buChar char="o"/>
            </a:pPr>
            <a:r>
              <a:rPr lang="en-US" dirty="0">
                <a:solidFill>
                  <a:schemeClr val="accent3">
                    <a:lumMod val="40000"/>
                    <a:lumOff val="60000"/>
                  </a:schemeClr>
                </a:solidFill>
              </a:rPr>
              <a:t>Emergency Processing</a:t>
            </a:r>
          </a:p>
          <a:p>
            <a:pPr>
              <a:buFont typeface="Courier New" panose="02070309020205020404" pitchFamily="49" charset="0"/>
              <a:buChar char="o"/>
            </a:pPr>
            <a:r>
              <a:rPr lang="en-US" dirty="0">
                <a:solidFill>
                  <a:schemeClr val="accent3">
                    <a:lumMod val="40000"/>
                    <a:lumOff val="60000"/>
                  </a:schemeClr>
                </a:solidFill>
              </a:rPr>
              <a:t>&lt;50ms Response</a:t>
            </a:r>
          </a:p>
          <a:p>
            <a:pPr>
              <a:buFont typeface="Courier New" panose="02070309020205020404" pitchFamily="49" charset="0"/>
              <a:buChar char="o"/>
            </a:pPr>
            <a:r>
              <a:rPr lang="en-US" dirty="0">
                <a:solidFill>
                  <a:schemeClr val="accent3">
                    <a:lumMod val="40000"/>
                    <a:lumOff val="60000"/>
                  </a:schemeClr>
                </a:solidFill>
              </a:rPr>
              <a:t>ML Anomaly Detection</a:t>
            </a:r>
          </a:p>
        </p:txBody>
      </p:sp>
      <p:sp>
        <p:nvSpPr>
          <p:cNvPr id="4" name="TextBox 3">
            <a:extLst>
              <a:ext uri="{FF2B5EF4-FFF2-40B4-BE49-F238E27FC236}">
                <a16:creationId xmlns:a16="http://schemas.microsoft.com/office/drawing/2014/main" id="{2A6CAE0D-2504-B292-6DA4-A8419327AF33}"/>
              </a:ext>
            </a:extLst>
          </p:cNvPr>
          <p:cNvSpPr txBox="1"/>
          <p:nvPr/>
        </p:nvSpPr>
        <p:spPr>
          <a:xfrm>
            <a:off x="5983755" y="3266782"/>
            <a:ext cx="4770384" cy="1815882"/>
          </a:xfrm>
          <a:prstGeom prst="rect">
            <a:avLst/>
          </a:prstGeom>
          <a:noFill/>
        </p:spPr>
        <p:txBody>
          <a:bodyPr wrap="square" rtlCol="0">
            <a:spAutoFit/>
          </a:bodyPr>
          <a:lstStyle/>
          <a:p>
            <a:r>
              <a:rPr lang="en-US" sz="2800" b="1" dirty="0">
                <a:solidFill>
                  <a:schemeClr val="accent3">
                    <a:lumMod val="40000"/>
                    <a:lumOff val="60000"/>
                  </a:schemeClr>
                </a:solidFill>
              </a:rPr>
              <a:t>Cloud Layer:</a:t>
            </a:r>
            <a:r>
              <a:rPr lang="en-US" sz="3600" b="1" dirty="0">
                <a:solidFill>
                  <a:schemeClr val="accent3">
                    <a:lumMod val="40000"/>
                    <a:lumOff val="60000"/>
                  </a:schemeClr>
                </a:solidFill>
              </a:rPr>
              <a:t>                                  </a:t>
            </a:r>
            <a:endParaRPr lang="en-US" sz="2400" b="1" dirty="0">
              <a:solidFill>
                <a:schemeClr val="accent3">
                  <a:lumMod val="40000"/>
                  <a:lumOff val="60000"/>
                </a:schemeClr>
              </a:solidFill>
            </a:endParaRPr>
          </a:p>
          <a:p>
            <a:pPr>
              <a:buFont typeface="Courier New" panose="02070309020205020404" pitchFamily="49" charset="0"/>
              <a:buChar char="o"/>
            </a:pPr>
            <a:r>
              <a:rPr lang="en-US" sz="2400" dirty="0">
                <a:solidFill>
                  <a:schemeClr val="accent3">
                    <a:lumMod val="40000"/>
                    <a:lumOff val="60000"/>
                  </a:schemeClr>
                </a:solidFill>
              </a:rPr>
              <a:t> Routine Monitoring</a:t>
            </a:r>
          </a:p>
          <a:p>
            <a:pPr>
              <a:buFont typeface="Courier New" panose="02070309020205020404" pitchFamily="49" charset="0"/>
              <a:buChar char="o"/>
            </a:pPr>
            <a:r>
              <a:rPr lang="en-US" sz="2400" dirty="0">
                <a:solidFill>
                  <a:schemeClr val="accent3">
                    <a:lumMod val="40000"/>
                    <a:lumOff val="60000"/>
                  </a:schemeClr>
                </a:solidFill>
              </a:rPr>
              <a:t> Cost Effective</a:t>
            </a:r>
          </a:p>
          <a:p>
            <a:pPr>
              <a:buFont typeface="Courier New" panose="02070309020205020404" pitchFamily="49" charset="0"/>
              <a:buChar char="o"/>
            </a:pPr>
            <a:r>
              <a:rPr lang="en-US" sz="2400" dirty="0">
                <a:solidFill>
                  <a:schemeClr val="accent3">
                    <a:lumMod val="40000"/>
                    <a:lumOff val="60000"/>
                  </a:schemeClr>
                </a:solidFill>
              </a:rPr>
              <a:t> Batch Analysis</a:t>
            </a:r>
          </a:p>
        </p:txBody>
      </p:sp>
      <p:sp>
        <p:nvSpPr>
          <p:cNvPr id="5" name="TextBox 4">
            <a:extLst>
              <a:ext uri="{FF2B5EF4-FFF2-40B4-BE49-F238E27FC236}">
                <a16:creationId xmlns:a16="http://schemas.microsoft.com/office/drawing/2014/main" id="{B1579B27-4964-AD0F-3FE8-75821FF6148D}"/>
              </a:ext>
            </a:extLst>
          </p:cNvPr>
          <p:cNvSpPr txBox="1"/>
          <p:nvPr/>
        </p:nvSpPr>
        <p:spPr>
          <a:xfrm>
            <a:off x="871721" y="5506278"/>
            <a:ext cx="9637253" cy="830997"/>
          </a:xfrm>
          <a:prstGeom prst="rect">
            <a:avLst/>
          </a:prstGeom>
          <a:noFill/>
        </p:spPr>
        <p:txBody>
          <a:bodyPr wrap="square" rtlCol="0">
            <a:spAutoFit/>
          </a:bodyPr>
          <a:lstStyle/>
          <a:p>
            <a:pPr marL="342900" indent="-342900">
              <a:buFont typeface="Wingdings" panose="05000000000000000000" pitchFamily="2" charset="2"/>
              <a:buChar char="q"/>
            </a:pPr>
            <a:r>
              <a:rPr lang="en-US" sz="2400" dirty="0">
                <a:solidFill>
                  <a:schemeClr val="accent1">
                    <a:lumMod val="60000"/>
                    <a:lumOff val="40000"/>
                  </a:schemeClr>
                </a:solidFill>
              </a:rPr>
              <a:t>Critical emergencies go to fog nodes for instant response, while stable patients use cost-effective cloud resources.</a:t>
            </a:r>
            <a:endParaRPr lang="en-IN" sz="2400" dirty="0">
              <a:solidFill>
                <a:schemeClr val="accent1">
                  <a:lumMod val="60000"/>
                  <a:lumOff val="40000"/>
                </a:schemeClr>
              </a:solidFill>
            </a:endParaRPr>
          </a:p>
        </p:txBody>
      </p:sp>
    </p:spTree>
    <p:extLst>
      <p:ext uri="{BB962C8B-B14F-4D97-AF65-F5344CB8AC3E}">
        <p14:creationId xmlns:p14="http://schemas.microsoft.com/office/powerpoint/2010/main" val="23833748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FFE68-612F-0BFE-A26A-DBBEF00D68F3}"/>
              </a:ext>
            </a:extLst>
          </p:cNvPr>
          <p:cNvSpPr>
            <a:spLocks noGrp="1"/>
          </p:cNvSpPr>
          <p:nvPr>
            <p:ph type="title"/>
          </p:nvPr>
        </p:nvSpPr>
        <p:spPr>
          <a:xfrm>
            <a:off x="99390" y="801757"/>
            <a:ext cx="11993218" cy="1179443"/>
          </a:xfrm>
        </p:spPr>
        <p:txBody>
          <a:bodyPr/>
          <a:lstStyle/>
          <a:p>
            <a:pPr algn="ctr"/>
            <a:r>
              <a:rPr lang="en-US" sz="3600" b="0" dirty="0">
                <a:solidFill>
                  <a:schemeClr val="bg2"/>
                </a:solidFill>
              </a:rPr>
              <a:t>What does our CI model do ?</a:t>
            </a:r>
            <a:br>
              <a:rPr lang="en-US" sz="3600" b="0" dirty="0">
                <a:solidFill>
                  <a:schemeClr val="bg2"/>
                </a:solidFill>
              </a:rPr>
            </a:br>
            <a:endParaRPr lang="en-IN" sz="3600" b="0" dirty="0">
              <a:solidFill>
                <a:schemeClr val="bg2"/>
              </a:solidFill>
            </a:endParaRPr>
          </a:p>
        </p:txBody>
      </p:sp>
      <p:sp>
        <p:nvSpPr>
          <p:cNvPr id="3" name="Content Placeholder 2">
            <a:extLst>
              <a:ext uri="{FF2B5EF4-FFF2-40B4-BE49-F238E27FC236}">
                <a16:creationId xmlns:a16="http://schemas.microsoft.com/office/drawing/2014/main" id="{6860F4BE-CAC8-6C41-38CB-4C9EA1177A75}"/>
              </a:ext>
            </a:extLst>
          </p:cNvPr>
          <p:cNvSpPr>
            <a:spLocks noGrp="1"/>
          </p:cNvSpPr>
          <p:nvPr>
            <p:ph idx="1"/>
          </p:nvPr>
        </p:nvSpPr>
        <p:spPr>
          <a:xfrm>
            <a:off x="172277" y="2222287"/>
            <a:ext cx="11847444" cy="4635713"/>
          </a:xfrm>
        </p:spPr>
        <p:txBody>
          <a:bodyPr>
            <a:normAutofit lnSpcReduction="10000"/>
          </a:bodyPr>
          <a:lstStyle/>
          <a:p>
            <a:r>
              <a:rPr lang="en-IN" sz="2200" dirty="0">
                <a:solidFill>
                  <a:srgbClr val="FBDCDE"/>
                </a:solidFill>
              </a:rPr>
              <a:t>Modern healthcare demands real-time analysis of vital signs like temperature, blood pressure, heart rate, and respiration, to instantly classify patient status as Normal, Warning, or Critical. The critical requirement for emergency response is achieving under 2ms inference time, a challenge that traditional cloud-based systems cannot meet due to latency issues. Wearable devices must process this data locally to ensure immediate alerts and maintain patient privacy.</a:t>
            </a:r>
          </a:p>
          <a:p>
            <a:r>
              <a:rPr lang="en-IN" sz="2200" dirty="0">
                <a:solidFill>
                  <a:srgbClr val="FBDCDE"/>
                </a:solidFill>
              </a:rPr>
              <a:t>This work presents a hybrid computational intelligence framework combining CNN, PSO, and Takagi-</a:t>
            </a:r>
            <a:r>
              <a:rPr lang="en-IN" sz="2200" dirty="0" err="1">
                <a:solidFill>
                  <a:srgbClr val="FBDCDE"/>
                </a:solidFill>
              </a:rPr>
              <a:t>Sugeno</a:t>
            </a:r>
            <a:r>
              <a:rPr lang="en-IN" sz="2200" dirty="0">
                <a:solidFill>
                  <a:srgbClr val="FBDCDE"/>
                </a:solidFill>
              </a:rPr>
              <a:t> Fuzzy Logic for vital sign classification into Normal, Warning, or Critical categories. The framework balances accuracy, interpretability, and efficiency for edge deployment.</a:t>
            </a:r>
          </a:p>
          <a:p>
            <a:r>
              <a:rPr lang="en-IN" sz="2200" dirty="0">
                <a:solidFill>
                  <a:srgbClr val="FBDCDE"/>
                </a:solidFill>
              </a:rPr>
              <a:t>Results demonstrate 87.78% accuracy, 97.03% alert precision, ultra-low latency (~1.09ms), and minimal footprint (~ 33 MB, 72 parameters), enabling deployment on wearable devices for real-time patient monitoring.</a:t>
            </a:r>
          </a:p>
        </p:txBody>
      </p:sp>
    </p:spTree>
    <p:extLst>
      <p:ext uri="{BB962C8B-B14F-4D97-AF65-F5344CB8AC3E}">
        <p14:creationId xmlns:p14="http://schemas.microsoft.com/office/powerpoint/2010/main" val="2407475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FC8C499A-7331-CD26-8E38-4048EB7A03E4}"/>
              </a:ext>
            </a:extLst>
          </p:cNvPr>
          <p:cNvPicPr>
            <a:picLocks noGrp="1" noChangeAspect="1"/>
          </p:cNvPicPr>
          <p:nvPr>
            <p:ph idx="1"/>
          </p:nvPr>
        </p:nvPicPr>
        <p:blipFill>
          <a:blip r:embed="rId3"/>
          <a:stretch>
            <a:fillRect/>
          </a:stretch>
        </p:blipFill>
        <p:spPr>
          <a:xfrm>
            <a:off x="-1" y="0"/>
            <a:ext cx="12192001" cy="6858000"/>
          </a:xfrm>
        </p:spPr>
      </p:pic>
    </p:spTree>
    <p:extLst>
      <p:ext uri="{BB962C8B-B14F-4D97-AF65-F5344CB8AC3E}">
        <p14:creationId xmlns:p14="http://schemas.microsoft.com/office/powerpoint/2010/main" val="6823149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B8B7C-2B8D-CB60-54B8-680D9799138B}"/>
              </a:ext>
            </a:extLst>
          </p:cNvPr>
          <p:cNvSpPr>
            <a:spLocks noGrp="1"/>
          </p:cNvSpPr>
          <p:nvPr>
            <p:ph type="ctrTitle"/>
          </p:nvPr>
        </p:nvSpPr>
        <p:spPr/>
        <p:txBody>
          <a:bodyPr/>
          <a:lstStyle/>
          <a:p>
            <a:r>
              <a:rPr lang="en-IN" sz="2000" dirty="0">
                <a:solidFill>
                  <a:schemeClr val="bg1">
                    <a:lumMod val="85000"/>
                    <a:lumOff val="15000"/>
                  </a:schemeClr>
                </a:solidFill>
              </a:rPr>
              <a:t> </a:t>
            </a:r>
            <a:r>
              <a:rPr lang="en-IN" sz="2800" dirty="0">
                <a:solidFill>
                  <a:schemeClr val="bg1">
                    <a:lumMod val="85000"/>
                    <a:lumOff val="15000"/>
                  </a:schemeClr>
                </a:solidFill>
              </a:rPr>
              <a:t>THREE-LAYER INTELLIGENT ARCHITECTURE</a:t>
            </a:r>
            <a:br>
              <a:rPr lang="en-IN" sz="2000" dirty="0">
                <a:solidFill>
                  <a:schemeClr val="bg1">
                    <a:lumMod val="85000"/>
                    <a:lumOff val="15000"/>
                  </a:schemeClr>
                </a:solidFill>
              </a:rPr>
            </a:br>
            <a:br>
              <a:rPr lang="en-IN" sz="2000" dirty="0">
                <a:solidFill>
                  <a:schemeClr val="bg1">
                    <a:lumMod val="85000"/>
                    <a:lumOff val="15000"/>
                  </a:schemeClr>
                </a:solidFill>
              </a:rPr>
            </a:br>
            <a:r>
              <a:rPr lang="en-IN" sz="2000" dirty="0">
                <a:solidFill>
                  <a:schemeClr val="bg1">
                    <a:lumMod val="85000"/>
                    <a:lumOff val="15000"/>
                  </a:schemeClr>
                </a:solidFill>
              </a:rPr>
              <a:t>SENSORS &amp; DEVICES        FOG INTELLIGENCE           CLOUD ANALYTICS</a:t>
            </a:r>
            <a:br>
              <a:rPr lang="en-IN" sz="2000" dirty="0">
                <a:solidFill>
                  <a:schemeClr val="bg1">
                    <a:lumMod val="85000"/>
                    <a:lumOff val="15000"/>
                  </a:schemeClr>
                </a:solidFill>
              </a:rPr>
            </a:br>
            <a:r>
              <a:rPr lang="en-IN" sz="2000" dirty="0">
                <a:solidFill>
                  <a:schemeClr val="bg1">
                    <a:lumMod val="85000"/>
                    <a:lumOff val="15000"/>
                  </a:schemeClr>
                </a:solidFill>
              </a:rPr>
              <a:t>───────────────   ──────────────       ────────────────</a:t>
            </a:r>
            <a:br>
              <a:rPr lang="en-IN" sz="2000" dirty="0">
                <a:solidFill>
                  <a:schemeClr val="bg1">
                    <a:lumMod val="85000"/>
                    <a:lumOff val="15000"/>
                  </a:schemeClr>
                </a:solidFill>
              </a:rPr>
            </a:br>
            <a:r>
              <a:rPr lang="en-IN" sz="2000" dirty="0">
                <a:solidFill>
                  <a:schemeClr val="bg1">
                    <a:lumMod val="85000"/>
                    <a:lumOff val="15000"/>
                  </a:schemeClr>
                </a:solidFill>
              </a:rPr>
              <a:t>→ ECG Monitors              →  ML Models                     →   Long-term Storage</a:t>
            </a:r>
            <a:br>
              <a:rPr lang="en-IN" sz="2000" dirty="0">
                <a:solidFill>
                  <a:schemeClr val="bg1">
                    <a:lumMod val="85000"/>
                    <a:lumOff val="15000"/>
                  </a:schemeClr>
                </a:solidFill>
              </a:rPr>
            </a:br>
            <a:r>
              <a:rPr lang="en-IN" sz="2000" dirty="0">
                <a:solidFill>
                  <a:schemeClr val="bg1">
                    <a:lumMod val="85000"/>
                    <a:lumOff val="15000"/>
                  </a:schemeClr>
                </a:solidFill>
              </a:rPr>
              <a:t>→ Heart Rate                   →  Real-time Analysis        →   Batch Processing  </a:t>
            </a:r>
            <a:br>
              <a:rPr lang="en-IN" sz="2000" dirty="0">
                <a:solidFill>
                  <a:schemeClr val="bg1">
                    <a:lumMod val="85000"/>
                    <a:lumOff val="15000"/>
                  </a:schemeClr>
                </a:solidFill>
              </a:rPr>
            </a:br>
            <a:r>
              <a:rPr lang="en-IN" sz="2000" dirty="0">
                <a:solidFill>
                  <a:schemeClr val="bg1">
                    <a:lumMod val="85000"/>
                    <a:lumOff val="15000"/>
                  </a:schemeClr>
                </a:solidFill>
              </a:rPr>
              <a:t>→ Temperature               →  Emergency Detection  →  Cost Optimization</a:t>
            </a:r>
            <a:br>
              <a:rPr lang="en-IN" sz="2000" dirty="0">
                <a:solidFill>
                  <a:schemeClr val="bg1">
                    <a:lumMod val="85000"/>
                    <a:lumOff val="15000"/>
                  </a:schemeClr>
                </a:solidFill>
              </a:rPr>
            </a:br>
            <a:br>
              <a:rPr lang="en-IN" sz="2000" dirty="0">
                <a:solidFill>
                  <a:schemeClr val="bg1">
                    <a:lumMod val="85000"/>
                    <a:lumOff val="15000"/>
                  </a:schemeClr>
                </a:solidFill>
              </a:rPr>
            </a:br>
            <a:endParaRPr lang="en-IN" sz="2000" dirty="0">
              <a:solidFill>
                <a:schemeClr val="bg1">
                  <a:lumMod val="85000"/>
                  <a:lumOff val="15000"/>
                </a:schemeClr>
              </a:solidFill>
            </a:endParaRPr>
          </a:p>
        </p:txBody>
      </p:sp>
      <p:sp>
        <p:nvSpPr>
          <p:cNvPr id="3" name="Subtitle 2">
            <a:extLst>
              <a:ext uri="{FF2B5EF4-FFF2-40B4-BE49-F238E27FC236}">
                <a16:creationId xmlns:a16="http://schemas.microsoft.com/office/drawing/2014/main" id="{79528068-6CB7-6CA9-8B02-35C2B41C8F85}"/>
              </a:ext>
            </a:extLst>
          </p:cNvPr>
          <p:cNvSpPr>
            <a:spLocks noGrp="1"/>
          </p:cNvSpPr>
          <p:nvPr>
            <p:ph type="subTitle" idx="1"/>
          </p:nvPr>
        </p:nvSpPr>
        <p:spPr>
          <a:xfrm>
            <a:off x="1094923" y="5545890"/>
            <a:ext cx="10572000" cy="434974"/>
          </a:xfrm>
        </p:spPr>
        <p:txBody>
          <a:bodyPr>
            <a:noAutofit/>
          </a:bodyPr>
          <a:lstStyle/>
          <a:p>
            <a:r>
              <a:rPr lang="en-IN" sz="4000" b="1" dirty="0">
                <a:solidFill>
                  <a:schemeClr val="accent2">
                    <a:lumMod val="60000"/>
                    <a:lumOff val="40000"/>
                  </a:schemeClr>
                </a:solidFill>
              </a:rPr>
              <a:t> DYNAMIC ORCHESTRATION ENGINE</a:t>
            </a:r>
          </a:p>
        </p:txBody>
      </p:sp>
    </p:spTree>
    <p:extLst>
      <p:ext uri="{BB962C8B-B14F-4D97-AF65-F5344CB8AC3E}">
        <p14:creationId xmlns:p14="http://schemas.microsoft.com/office/powerpoint/2010/main" val="476763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7D49D-53F4-DC22-A5A0-181306DC2840}"/>
              </a:ext>
            </a:extLst>
          </p:cNvPr>
          <p:cNvSpPr>
            <a:spLocks noGrp="1"/>
          </p:cNvSpPr>
          <p:nvPr>
            <p:ph type="title"/>
          </p:nvPr>
        </p:nvSpPr>
        <p:spPr>
          <a:xfrm>
            <a:off x="591339" y="1036910"/>
            <a:ext cx="10571998" cy="970450"/>
          </a:xfrm>
        </p:spPr>
        <p:txBody>
          <a:bodyPr/>
          <a:lstStyle/>
          <a:p>
            <a:r>
              <a:rPr lang="en-US" dirty="0">
                <a:solidFill>
                  <a:schemeClr val="bg2"/>
                </a:solidFill>
                <a:latin typeface="TT Hoves"/>
                <a:ea typeface="TT Hoves"/>
                <a:cs typeface="TT Hoves"/>
                <a:sym typeface="TT Hoves"/>
              </a:rPr>
              <a:t>EXPLANATION OF FLOW:</a:t>
            </a:r>
            <a:br>
              <a:rPr lang="en-US" dirty="0">
                <a:solidFill>
                  <a:schemeClr val="bg2"/>
                </a:solidFill>
                <a:latin typeface="TT Hoves"/>
                <a:ea typeface="TT Hoves"/>
                <a:cs typeface="TT Hoves"/>
                <a:sym typeface="TT Hoves"/>
              </a:rPr>
            </a:br>
            <a:endParaRPr lang="en-IN" dirty="0">
              <a:solidFill>
                <a:schemeClr val="bg2"/>
              </a:solidFill>
            </a:endParaRPr>
          </a:p>
        </p:txBody>
      </p:sp>
      <p:sp>
        <p:nvSpPr>
          <p:cNvPr id="3" name="Content Placeholder 2">
            <a:extLst>
              <a:ext uri="{FF2B5EF4-FFF2-40B4-BE49-F238E27FC236}">
                <a16:creationId xmlns:a16="http://schemas.microsoft.com/office/drawing/2014/main" id="{5627F190-7747-787E-54CC-6B798951F18E}"/>
              </a:ext>
            </a:extLst>
          </p:cNvPr>
          <p:cNvSpPr>
            <a:spLocks noGrp="1"/>
          </p:cNvSpPr>
          <p:nvPr>
            <p:ph idx="1"/>
          </p:nvPr>
        </p:nvSpPr>
        <p:spPr>
          <a:xfrm>
            <a:off x="195859" y="2321679"/>
            <a:ext cx="10554574" cy="4370669"/>
          </a:xfrm>
        </p:spPr>
        <p:txBody>
          <a:bodyPr>
            <a:noAutofit/>
          </a:bodyPr>
          <a:lstStyle/>
          <a:p>
            <a:pPr marL="616431" lvl="1" indent="-308215">
              <a:lnSpc>
                <a:spcPts val="3997"/>
              </a:lnSpc>
              <a:buFont typeface="Arial"/>
              <a:buChar char="•"/>
            </a:pPr>
            <a:r>
              <a:rPr lang="en-US" sz="1400" b="1" dirty="0">
                <a:solidFill>
                  <a:schemeClr val="accent3">
                    <a:lumMod val="40000"/>
                    <a:lumOff val="60000"/>
                  </a:schemeClr>
                </a:solidFill>
                <a:latin typeface="TT Hoves"/>
                <a:ea typeface="TT Hoves"/>
                <a:cs typeface="TT Hoves"/>
                <a:sym typeface="TT Hoves"/>
              </a:rPr>
              <a:t>TASK RECEIVER – GETS INCOMING HEALTHCARE DATA FROM SINK LAYER (E.G., HEART RATE, SPO₂).</a:t>
            </a:r>
          </a:p>
          <a:p>
            <a:pPr marL="616431" lvl="1" indent="-308215">
              <a:lnSpc>
                <a:spcPts val="3997"/>
              </a:lnSpc>
              <a:buFont typeface="Arial"/>
              <a:buChar char="•"/>
            </a:pPr>
            <a:r>
              <a:rPr lang="en-US" sz="1400" b="1" dirty="0">
                <a:solidFill>
                  <a:schemeClr val="accent3">
                    <a:lumMod val="40000"/>
                    <a:lumOff val="60000"/>
                  </a:schemeClr>
                </a:solidFill>
                <a:latin typeface="TT Hoves"/>
                <a:ea typeface="TT Hoves"/>
                <a:cs typeface="TT Hoves"/>
                <a:sym typeface="TT Hoves"/>
              </a:rPr>
              <a:t>TASK ANALYZER – FLAGS URGENCY (E.G., SPO₂ &lt; 90%) USING RULES OR ML.</a:t>
            </a:r>
          </a:p>
          <a:p>
            <a:pPr marL="616431" lvl="1" indent="-308215">
              <a:lnSpc>
                <a:spcPts val="3997"/>
              </a:lnSpc>
              <a:buFont typeface="Arial"/>
              <a:buChar char="•"/>
            </a:pPr>
            <a:r>
              <a:rPr lang="en-US" sz="1400" b="1" dirty="0">
                <a:solidFill>
                  <a:schemeClr val="accent3">
                    <a:lumMod val="40000"/>
                    <a:lumOff val="60000"/>
                  </a:schemeClr>
                </a:solidFill>
                <a:latin typeface="TT Hoves"/>
                <a:ea typeface="TT Hoves"/>
                <a:cs typeface="TT Hoves"/>
                <a:sym typeface="TT Hoves"/>
              </a:rPr>
              <a:t>SECURITY MANAGER – HANDLES ACCESS, AUTHENTICATION, ENCRYPTION.</a:t>
            </a:r>
          </a:p>
          <a:p>
            <a:pPr marL="616431" lvl="1" indent="-308215">
              <a:lnSpc>
                <a:spcPts val="3997"/>
              </a:lnSpc>
              <a:buFont typeface="Arial"/>
              <a:buChar char="•"/>
            </a:pPr>
            <a:r>
              <a:rPr lang="en-US" sz="1400" b="1" dirty="0">
                <a:solidFill>
                  <a:schemeClr val="accent3">
                    <a:lumMod val="40000"/>
                    <a:lumOff val="60000"/>
                  </a:schemeClr>
                </a:solidFill>
                <a:latin typeface="TT Hoves"/>
                <a:ea typeface="TT Hoves"/>
                <a:cs typeface="TT Hoves"/>
                <a:sym typeface="TT Hoves"/>
              </a:rPr>
              <a:t>SCHEDULER – APPLIES WSM FOR PRIORITY + MBAR FOR NODE ALLOCATION.</a:t>
            </a:r>
          </a:p>
          <a:p>
            <a:pPr marL="616431" lvl="1" indent="-308215">
              <a:lnSpc>
                <a:spcPts val="3997"/>
              </a:lnSpc>
              <a:buFont typeface="Arial"/>
              <a:buChar char="•"/>
            </a:pPr>
            <a:r>
              <a:rPr lang="en-US" sz="1400" b="1" dirty="0">
                <a:solidFill>
                  <a:schemeClr val="accent3">
                    <a:lumMod val="40000"/>
                    <a:lumOff val="60000"/>
                  </a:schemeClr>
                </a:solidFill>
                <a:latin typeface="TT Hoves"/>
                <a:ea typeface="TT Hoves"/>
                <a:cs typeface="TT Hoves"/>
                <a:sym typeface="TT Hoves"/>
              </a:rPr>
              <a:t>RESOURCE MANAGER – TRACKS AVAILABLE FOG RESOURCES TO PREVENT OVERLOAD.</a:t>
            </a:r>
          </a:p>
          <a:p>
            <a:pPr marL="616431" lvl="1" indent="-308215">
              <a:lnSpc>
                <a:spcPts val="3997"/>
              </a:lnSpc>
              <a:buFont typeface="Arial"/>
              <a:buChar char="•"/>
            </a:pPr>
            <a:r>
              <a:rPr lang="en-US" sz="1400" b="1" dirty="0">
                <a:solidFill>
                  <a:schemeClr val="accent3">
                    <a:lumMod val="40000"/>
                    <a:lumOff val="60000"/>
                  </a:schemeClr>
                </a:solidFill>
                <a:latin typeface="TT Hoves"/>
                <a:ea typeface="TT Hoves"/>
                <a:cs typeface="TT Hoves"/>
                <a:sym typeface="TT Hoves"/>
              </a:rPr>
              <a:t>DISPATCHER – SENDS TASKS TO FOG/CLOUD NODES ACCORDINGLY.</a:t>
            </a:r>
          </a:p>
          <a:p>
            <a:pPr marL="616431" lvl="1" indent="-308215">
              <a:lnSpc>
                <a:spcPts val="3997"/>
              </a:lnSpc>
              <a:buFont typeface="Arial"/>
              <a:buChar char="•"/>
            </a:pPr>
            <a:r>
              <a:rPr lang="en-US" sz="1400" b="1" dirty="0">
                <a:solidFill>
                  <a:schemeClr val="accent3">
                    <a:lumMod val="40000"/>
                    <a:lumOff val="60000"/>
                  </a:schemeClr>
                </a:solidFill>
                <a:latin typeface="TT Hoves"/>
                <a:ea typeface="TT Hoves"/>
                <a:cs typeface="TT Hoves"/>
                <a:sym typeface="TT Hoves"/>
              </a:rPr>
              <a:t>DATA LOGGER – STORES TASK OUTCOMES FOR ANALYSIS, DEBUGGING, OR AI TRAINING.</a:t>
            </a:r>
          </a:p>
          <a:p>
            <a:endParaRPr lang="en-IN" sz="1100" b="1" dirty="0">
              <a:solidFill>
                <a:schemeClr val="accent3">
                  <a:lumMod val="40000"/>
                  <a:lumOff val="60000"/>
                </a:schemeClr>
              </a:solidFill>
            </a:endParaRPr>
          </a:p>
        </p:txBody>
      </p:sp>
    </p:spTree>
    <p:extLst>
      <p:ext uri="{BB962C8B-B14F-4D97-AF65-F5344CB8AC3E}">
        <p14:creationId xmlns:p14="http://schemas.microsoft.com/office/powerpoint/2010/main" val="37261451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C2C58-47AD-DD69-7390-29ECA2A395C9}"/>
              </a:ext>
            </a:extLst>
          </p:cNvPr>
          <p:cNvSpPr>
            <a:spLocks noGrp="1"/>
          </p:cNvSpPr>
          <p:nvPr>
            <p:ph type="title"/>
          </p:nvPr>
        </p:nvSpPr>
        <p:spPr>
          <a:xfrm>
            <a:off x="213652" y="838128"/>
            <a:ext cx="10571998" cy="970450"/>
          </a:xfrm>
        </p:spPr>
        <p:txBody>
          <a:bodyPr/>
          <a:lstStyle/>
          <a:p>
            <a:r>
              <a:rPr lang="en-IN" sz="3200" b="0" dirty="0">
                <a:solidFill>
                  <a:schemeClr val="bg1">
                    <a:lumMod val="85000"/>
                    <a:lumOff val="15000"/>
                  </a:schemeClr>
                </a:solidFill>
              </a:rPr>
              <a:t>CRITICAL CASES AUTOMATICALLY IDENTIFIED:</a:t>
            </a:r>
            <a:br>
              <a:rPr lang="en-IN" sz="3200" b="0" dirty="0">
                <a:solidFill>
                  <a:schemeClr val="bg1">
                    <a:lumMod val="85000"/>
                    <a:lumOff val="15000"/>
                  </a:schemeClr>
                </a:solidFill>
              </a:rPr>
            </a:br>
            <a:endParaRPr lang="en-IN" sz="3200" dirty="0">
              <a:solidFill>
                <a:schemeClr val="bg1">
                  <a:lumMod val="85000"/>
                  <a:lumOff val="15000"/>
                </a:schemeClr>
              </a:solidFill>
            </a:endParaRPr>
          </a:p>
        </p:txBody>
      </p:sp>
      <p:sp>
        <p:nvSpPr>
          <p:cNvPr id="3" name="Content Placeholder 2">
            <a:extLst>
              <a:ext uri="{FF2B5EF4-FFF2-40B4-BE49-F238E27FC236}">
                <a16:creationId xmlns:a16="http://schemas.microsoft.com/office/drawing/2014/main" id="{FEA66C78-802B-A7A9-326F-E9A94421E9D0}"/>
              </a:ext>
            </a:extLst>
          </p:cNvPr>
          <p:cNvSpPr>
            <a:spLocks noGrp="1"/>
          </p:cNvSpPr>
          <p:nvPr>
            <p:ph idx="1"/>
          </p:nvPr>
        </p:nvSpPr>
        <p:spPr>
          <a:xfrm>
            <a:off x="500660" y="2643809"/>
            <a:ext cx="10554574" cy="4389855"/>
          </a:xfrm>
        </p:spPr>
        <p:txBody>
          <a:bodyPr>
            <a:normAutofit lnSpcReduction="10000"/>
          </a:bodyPr>
          <a:lstStyle/>
          <a:p>
            <a:pPr latinLnBrk="1"/>
            <a:r>
              <a:rPr lang="en-IN" sz="2400" dirty="0">
                <a:solidFill>
                  <a:schemeClr val="accent4">
                    <a:lumMod val="40000"/>
                    <a:lumOff val="60000"/>
                  </a:schemeClr>
                </a:solidFill>
              </a:rPr>
              <a:t>PATIENT 4: Heartbeat Anomaly</a:t>
            </a:r>
          </a:p>
          <a:p>
            <a:pPr marL="514350" indent="-514350" latinLnBrk="1">
              <a:buFont typeface="+mj-lt"/>
              <a:buAutoNum type="romanLcPeriod"/>
            </a:pPr>
            <a:r>
              <a:rPr lang="en-IN" sz="2400" dirty="0">
                <a:solidFill>
                  <a:schemeClr val="accent4">
                    <a:lumMod val="40000"/>
                    <a:lumOff val="60000"/>
                  </a:schemeClr>
                </a:solidFill>
              </a:rPr>
              <a:t>  ML Score: 0.91 → CRITICAL</a:t>
            </a:r>
          </a:p>
          <a:p>
            <a:pPr marL="514350" indent="-514350" latinLnBrk="1">
              <a:buFont typeface="+mj-lt"/>
              <a:buAutoNum type="romanLcPeriod"/>
            </a:pPr>
            <a:r>
              <a:rPr lang="en-IN" sz="2400" dirty="0">
                <a:solidFill>
                  <a:schemeClr val="accent4">
                    <a:lumMod val="40000"/>
                    <a:lumOff val="60000"/>
                  </a:schemeClr>
                </a:solidFill>
              </a:rPr>
              <a:t>  Urgency: 8 → 10 (Auto-escalated)</a:t>
            </a:r>
          </a:p>
          <a:p>
            <a:pPr marL="514350" indent="-514350" latinLnBrk="1">
              <a:buFont typeface="+mj-lt"/>
              <a:buAutoNum type="romanLcPeriod"/>
            </a:pPr>
            <a:r>
              <a:rPr lang="en-IN" sz="2400" dirty="0">
                <a:solidFill>
                  <a:schemeClr val="accent4">
                    <a:lumMod val="40000"/>
                    <a:lumOff val="60000"/>
                  </a:schemeClr>
                </a:solidFill>
              </a:rPr>
              <a:t>  Allocation: FOG + Emergency Alert</a:t>
            </a:r>
          </a:p>
          <a:p>
            <a:pPr marL="0" indent="0" latinLnBrk="1">
              <a:buNone/>
            </a:pPr>
            <a:endParaRPr lang="en-IN" sz="2400" dirty="0">
              <a:solidFill>
                <a:schemeClr val="accent4">
                  <a:lumMod val="40000"/>
                  <a:lumOff val="60000"/>
                </a:schemeClr>
              </a:solidFill>
            </a:endParaRPr>
          </a:p>
          <a:p>
            <a:pPr latinLnBrk="1"/>
            <a:r>
              <a:rPr lang="en-IN" sz="2400" dirty="0">
                <a:solidFill>
                  <a:schemeClr val="accent4">
                    <a:lumMod val="40000"/>
                    <a:lumOff val="60000"/>
                  </a:schemeClr>
                </a:solidFill>
              </a:rPr>
              <a:t>PATIENT 12: Severe Cardiac Event  </a:t>
            </a:r>
          </a:p>
          <a:p>
            <a:pPr marL="514350" indent="-514350" latinLnBrk="1">
              <a:buFont typeface="+mj-lt"/>
              <a:buAutoNum type="romanLcPeriod"/>
            </a:pPr>
            <a:r>
              <a:rPr lang="en-IN" sz="2400" dirty="0">
                <a:solidFill>
                  <a:schemeClr val="accent4">
                    <a:lumMod val="40000"/>
                    <a:lumOff val="60000"/>
                  </a:schemeClr>
                </a:solidFill>
              </a:rPr>
              <a:t>   ML Score: 1.00 → MAXIMUM RISK</a:t>
            </a:r>
          </a:p>
          <a:p>
            <a:pPr marL="514350" indent="-514350" latinLnBrk="1">
              <a:buFont typeface="+mj-lt"/>
              <a:buAutoNum type="romanLcPeriod"/>
            </a:pPr>
            <a:r>
              <a:rPr lang="en-IN" sz="2400" dirty="0">
                <a:solidFill>
                  <a:schemeClr val="accent4">
                    <a:lumMod val="40000"/>
                    <a:lumOff val="60000"/>
                  </a:schemeClr>
                </a:solidFill>
              </a:rPr>
              <a:t>   Response: Immediate Fog Processing</a:t>
            </a:r>
          </a:p>
          <a:p>
            <a:pPr marL="514350" indent="-514350" latinLnBrk="1">
              <a:buFont typeface="+mj-lt"/>
              <a:buAutoNum type="romanLcPeriod"/>
            </a:pPr>
            <a:r>
              <a:rPr lang="en-IN" sz="2400" dirty="0">
                <a:solidFill>
                  <a:schemeClr val="accent4">
                    <a:lumMod val="40000"/>
                    <a:lumOff val="60000"/>
                  </a:schemeClr>
                </a:solidFill>
              </a:rPr>
              <a:t>   Action: Doctor Alert Triggered</a:t>
            </a:r>
          </a:p>
          <a:p>
            <a:endParaRPr lang="en-IN" sz="2400" dirty="0">
              <a:solidFill>
                <a:schemeClr val="accent4">
                  <a:lumMod val="40000"/>
                  <a:lumOff val="60000"/>
                </a:schemeClr>
              </a:solidFill>
            </a:endParaRPr>
          </a:p>
        </p:txBody>
      </p:sp>
      <p:sp>
        <p:nvSpPr>
          <p:cNvPr id="6" name="TextBox 5">
            <a:extLst>
              <a:ext uri="{FF2B5EF4-FFF2-40B4-BE49-F238E27FC236}">
                <a16:creationId xmlns:a16="http://schemas.microsoft.com/office/drawing/2014/main" id="{650C4AB2-5287-4B8E-72AA-988C8DC0FF58}"/>
              </a:ext>
            </a:extLst>
          </p:cNvPr>
          <p:cNvSpPr txBox="1"/>
          <p:nvPr/>
        </p:nvSpPr>
        <p:spPr>
          <a:xfrm>
            <a:off x="6738730" y="2570922"/>
            <a:ext cx="5320748" cy="1200329"/>
          </a:xfrm>
          <a:prstGeom prst="rect">
            <a:avLst/>
          </a:prstGeom>
          <a:noFill/>
        </p:spPr>
        <p:txBody>
          <a:bodyPr wrap="square" rtlCol="0">
            <a:spAutoFit/>
          </a:bodyPr>
          <a:lstStyle/>
          <a:p>
            <a:pPr marL="285750" indent="-285750">
              <a:buFont typeface="Wingdings" panose="05000000000000000000" pitchFamily="2" charset="2"/>
              <a:buChar char="q"/>
            </a:pPr>
            <a:r>
              <a:rPr lang="en-US" dirty="0">
                <a:solidFill>
                  <a:schemeClr val="tx1">
                    <a:lumMod val="75000"/>
                  </a:schemeClr>
                </a:solidFill>
              </a:rPr>
              <a:t>Patient 4's heartbeat shows abnormalities - ML detects it instantly, automatically escalates urgency, and routes to fog processing.</a:t>
            </a:r>
            <a:endParaRPr lang="en-IN" dirty="0">
              <a:solidFill>
                <a:schemeClr val="tx1">
                  <a:lumMod val="75000"/>
                </a:schemeClr>
              </a:solidFill>
            </a:endParaRPr>
          </a:p>
        </p:txBody>
      </p:sp>
      <p:sp>
        <p:nvSpPr>
          <p:cNvPr id="7" name="TextBox 6">
            <a:extLst>
              <a:ext uri="{FF2B5EF4-FFF2-40B4-BE49-F238E27FC236}">
                <a16:creationId xmlns:a16="http://schemas.microsoft.com/office/drawing/2014/main" id="{08FBAA19-CBF8-3DDA-7FA0-AD7A679BE7ED}"/>
              </a:ext>
            </a:extLst>
          </p:cNvPr>
          <p:cNvSpPr txBox="1"/>
          <p:nvPr/>
        </p:nvSpPr>
        <p:spPr>
          <a:xfrm>
            <a:off x="6791346" y="4838736"/>
            <a:ext cx="5244549" cy="923330"/>
          </a:xfrm>
          <a:prstGeom prst="rect">
            <a:avLst/>
          </a:prstGeom>
          <a:noFill/>
        </p:spPr>
        <p:txBody>
          <a:bodyPr wrap="square" rtlCol="0">
            <a:spAutoFit/>
          </a:bodyPr>
          <a:lstStyle/>
          <a:p>
            <a:pPr marL="285750" indent="-285750">
              <a:buFont typeface="Wingdings" panose="05000000000000000000" pitchFamily="2" charset="2"/>
              <a:buChar char="q"/>
            </a:pPr>
            <a:r>
              <a:rPr lang="en-US" dirty="0">
                <a:solidFill>
                  <a:schemeClr val="tx1">
                    <a:lumMod val="75000"/>
                  </a:schemeClr>
                </a:solidFill>
              </a:rPr>
              <a:t>Patient 12 shows severe cardiac patterns - perfect ML scores trigger maximum emergency response within milliseconds.</a:t>
            </a:r>
            <a:endParaRPr lang="en-IN" dirty="0">
              <a:solidFill>
                <a:schemeClr val="tx1">
                  <a:lumMod val="75000"/>
                </a:schemeClr>
              </a:solidFill>
            </a:endParaRPr>
          </a:p>
        </p:txBody>
      </p:sp>
    </p:spTree>
    <p:extLst>
      <p:ext uri="{BB962C8B-B14F-4D97-AF65-F5344CB8AC3E}">
        <p14:creationId xmlns:p14="http://schemas.microsoft.com/office/powerpoint/2010/main" val="12684736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58013-1BB9-AF97-A204-0802D73D527A}"/>
              </a:ext>
            </a:extLst>
          </p:cNvPr>
          <p:cNvSpPr>
            <a:spLocks noGrp="1"/>
          </p:cNvSpPr>
          <p:nvPr>
            <p:ph type="title"/>
          </p:nvPr>
        </p:nvSpPr>
        <p:spPr>
          <a:xfrm>
            <a:off x="379305" y="513977"/>
            <a:ext cx="10571998" cy="970450"/>
          </a:xfrm>
        </p:spPr>
        <p:txBody>
          <a:bodyPr/>
          <a:lstStyle/>
          <a:p>
            <a:r>
              <a:rPr lang="en-IN" b="0" dirty="0">
                <a:solidFill>
                  <a:schemeClr val="bg1">
                    <a:lumMod val="85000"/>
                    <a:lumOff val="15000"/>
                  </a:schemeClr>
                </a:solidFill>
              </a:rPr>
              <a:t>Simulation Results:</a:t>
            </a:r>
          </a:p>
        </p:txBody>
      </p:sp>
      <p:sp>
        <p:nvSpPr>
          <p:cNvPr id="3" name="Content Placeholder 2">
            <a:extLst>
              <a:ext uri="{FF2B5EF4-FFF2-40B4-BE49-F238E27FC236}">
                <a16:creationId xmlns:a16="http://schemas.microsoft.com/office/drawing/2014/main" id="{B613FC5C-4D88-754A-1659-18052AB8C904}"/>
              </a:ext>
            </a:extLst>
          </p:cNvPr>
          <p:cNvSpPr>
            <a:spLocks noGrp="1"/>
          </p:cNvSpPr>
          <p:nvPr>
            <p:ph idx="1"/>
          </p:nvPr>
        </p:nvSpPr>
        <p:spPr>
          <a:xfrm>
            <a:off x="447651" y="2639731"/>
            <a:ext cx="10554574" cy="3636511"/>
          </a:xfrm>
        </p:spPr>
        <p:txBody>
          <a:bodyPr/>
          <a:lstStyle/>
          <a:p>
            <a:pPr latinLnBrk="1"/>
            <a:r>
              <a:rPr lang="en-US" dirty="0"/>
              <a:t>ALLOCATION BREAKDOWN:</a:t>
            </a:r>
          </a:p>
          <a:p>
            <a:pPr latinLnBrk="1">
              <a:buFont typeface="Wingdings" panose="05000000000000000000" pitchFamily="2" charset="2"/>
              <a:buChar char="v"/>
            </a:pPr>
            <a:r>
              <a:rPr lang="en-US" dirty="0"/>
              <a:t>  FOG PROCESSING: 8 patients (53%)</a:t>
            </a:r>
          </a:p>
          <a:p>
            <a:pPr marL="0" indent="0" latinLnBrk="1">
              <a:buNone/>
            </a:pPr>
            <a:r>
              <a:rPr lang="en-US" dirty="0"/>
              <a:t>   	• Critical emergencies</a:t>
            </a:r>
          </a:p>
          <a:p>
            <a:pPr marL="0" indent="0" latinLnBrk="1">
              <a:buNone/>
            </a:pPr>
            <a:r>
              <a:rPr lang="en-US" dirty="0"/>
              <a:t>   	• Time-sensitive cases</a:t>
            </a:r>
          </a:p>
          <a:p>
            <a:pPr latinLnBrk="1"/>
            <a:endParaRPr lang="en-US" dirty="0"/>
          </a:p>
          <a:p>
            <a:pPr latinLnBrk="1">
              <a:buFont typeface="Wingdings" panose="05000000000000000000" pitchFamily="2" charset="2"/>
              <a:buChar char="v"/>
            </a:pPr>
            <a:r>
              <a:rPr lang="en-US" dirty="0"/>
              <a:t> CLOUD PROCESSING: 7 patients (47%)  </a:t>
            </a:r>
          </a:p>
          <a:p>
            <a:pPr marL="0" indent="0" latinLnBrk="1">
              <a:buNone/>
            </a:pPr>
            <a:r>
              <a:rPr lang="en-US" dirty="0"/>
              <a:t>	• Stable monitoring</a:t>
            </a:r>
          </a:p>
          <a:p>
            <a:pPr marL="0" indent="0" latinLnBrk="1">
              <a:buNone/>
            </a:pPr>
            <a:r>
              <a:rPr lang="en-US" dirty="0"/>
              <a:t>	• Routine checks</a:t>
            </a:r>
          </a:p>
          <a:p>
            <a:endParaRPr lang="en-IN" dirty="0"/>
          </a:p>
        </p:txBody>
      </p:sp>
      <p:sp>
        <p:nvSpPr>
          <p:cNvPr id="4" name="TextBox 3">
            <a:extLst>
              <a:ext uri="{FF2B5EF4-FFF2-40B4-BE49-F238E27FC236}">
                <a16:creationId xmlns:a16="http://schemas.microsoft.com/office/drawing/2014/main" id="{2DFB8E51-7132-8A37-87C3-973E884C2DFF}"/>
              </a:ext>
            </a:extLst>
          </p:cNvPr>
          <p:cNvSpPr txBox="1"/>
          <p:nvPr/>
        </p:nvSpPr>
        <p:spPr>
          <a:xfrm>
            <a:off x="6096000" y="2639731"/>
            <a:ext cx="5847132" cy="1508105"/>
          </a:xfrm>
          <a:prstGeom prst="rect">
            <a:avLst/>
          </a:prstGeom>
          <a:noFill/>
        </p:spPr>
        <p:txBody>
          <a:bodyPr wrap="square" rtlCol="0">
            <a:spAutoFit/>
          </a:bodyPr>
          <a:lstStyle/>
          <a:p>
            <a:pPr latinLnBrk="1"/>
            <a:r>
              <a:rPr lang="en-US" sz="2000" dirty="0">
                <a:solidFill>
                  <a:schemeClr val="accent3">
                    <a:lumMod val="60000"/>
                    <a:lumOff val="40000"/>
                  </a:schemeClr>
                </a:solidFill>
              </a:rPr>
              <a:t>EMERGENCY DETECTION:</a:t>
            </a:r>
          </a:p>
          <a:p>
            <a:pPr latinLnBrk="1"/>
            <a:endParaRPr lang="en-US" dirty="0">
              <a:solidFill>
                <a:schemeClr val="accent3">
                  <a:lumMod val="60000"/>
                  <a:lumOff val="40000"/>
                </a:schemeClr>
              </a:solidFill>
            </a:endParaRPr>
          </a:p>
          <a:p>
            <a:pPr marL="285750" indent="-285750" latinLnBrk="1">
              <a:buFont typeface="Wingdings" panose="05000000000000000000" pitchFamily="2" charset="2"/>
              <a:buChar char="v"/>
            </a:pPr>
            <a:r>
              <a:rPr lang="en-US" dirty="0">
                <a:solidFill>
                  <a:schemeClr val="accent3">
                    <a:lumMod val="60000"/>
                    <a:lumOff val="40000"/>
                  </a:schemeClr>
                </a:solidFill>
              </a:rPr>
              <a:t>6 CRITICAL ALERTS (40% - Realistic hospital stats)</a:t>
            </a:r>
          </a:p>
          <a:p>
            <a:pPr marL="285750" indent="-285750" latinLnBrk="1">
              <a:buFont typeface="Wingdings" panose="05000000000000000000" pitchFamily="2" charset="2"/>
              <a:buChar char="v"/>
            </a:pPr>
            <a:r>
              <a:rPr lang="en-US" dirty="0">
                <a:solidFill>
                  <a:schemeClr val="accent3">
                    <a:lumMod val="60000"/>
                    <a:lumOff val="40000"/>
                  </a:schemeClr>
                </a:solidFill>
              </a:rPr>
              <a:t>100% ML COVERAGE (Every patient assessed)</a:t>
            </a:r>
          </a:p>
          <a:p>
            <a:endParaRPr lang="en-IN" dirty="0">
              <a:solidFill>
                <a:schemeClr val="accent3">
                  <a:lumMod val="60000"/>
                  <a:lumOff val="40000"/>
                </a:schemeClr>
              </a:solidFill>
            </a:endParaRPr>
          </a:p>
        </p:txBody>
      </p:sp>
    </p:spTree>
    <p:extLst>
      <p:ext uri="{BB962C8B-B14F-4D97-AF65-F5344CB8AC3E}">
        <p14:creationId xmlns:p14="http://schemas.microsoft.com/office/powerpoint/2010/main" val="1880434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91112-A541-19DB-4152-B3C251514EBD}"/>
              </a:ext>
            </a:extLst>
          </p:cNvPr>
          <p:cNvSpPr>
            <a:spLocks noGrp="1"/>
          </p:cNvSpPr>
          <p:nvPr>
            <p:ph type="title"/>
          </p:nvPr>
        </p:nvSpPr>
        <p:spPr>
          <a:xfrm>
            <a:off x="366052" y="367675"/>
            <a:ext cx="10571998" cy="970450"/>
          </a:xfrm>
        </p:spPr>
        <p:txBody>
          <a:bodyPr/>
          <a:lstStyle/>
          <a:p>
            <a:r>
              <a:rPr lang="en-IN" b="0" dirty="0">
                <a:solidFill>
                  <a:schemeClr val="bg1">
                    <a:lumMod val="85000"/>
                    <a:lumOff val="15000"/>
                  </a:schemeClr>
                </a:solidFill>
              </a:rPr>
              <a:t>Memory Usage </a:t>
            </a:r>
            <a:r>
              <a:rPr lang="en-IN" b="0" dirty="0" err="1">
                <a:solidFill>
                  <a:schemeClr val="bg1">
                    <a:lumMod val="85000"/>
                    <a:lumOff val="15000"/>
                  </a:schemeClr>
                </a:solidFill>
              </a:rPr>
              <a:t>Comparision</a:t>
            </a:r>
            <a:r>
              <a:rPr lang="en-IN" b="0" dirty="0">
                <a:solidFill>
                  <a:schemeClr val="bg1">
                    <a:lumMod val="85000"/>
                    <a:lumOff val="15000"/>
                  </a:schemeClr>
                </a:solidFill>
              </a:rPr>
              <a:t>:</a:t>
            </a:r>
          </a:p>
        </p:txBody>
      </p:sp>
      <p:graphicFrame>
        <p:nvGraphicFramePr>
          <p:cNvPr id="4" name="Content Placeholder 3">
            <a:extLst>
              <a:ext uri="{FF2B5EF4-FFF2-40B4-BE49-F238E27FC236}">
                <a16:creationId xmlns:a16="http://schemas.microsoft.com/office/drawing/2014/main" id="{0C3EA29A-B623-8319-FDD6-A0D4A47097CD}"/>
              </a:ext>
            </a:extLst>
          </p:cNvPr>
          <p:cNvGraphicFramePr>
            <a:graphicFrameLocks noGrp="1"/>
          </p:cNvGraphicFramePr>
          <p:nvPr>
            <p:ph idx="1"/>
            <p:extLst>
              <p:ext uri="{D42A27DB-BD31-4B8C-83A1-F6EECF244321}">
                <p14:modId xmlns:p14="http://schemas.microsoft.com/office/powerpoint/2010/main" val="3030582957"/>
              </p:ext>
            </p:extLst>
          </p:nvPr>
        </p:nvGraphicFramePr>
        <p:xfrm>
          <a:off x="819150" y="2537791"/>
          <a:ext cx="10553697" cy="3952536"/>
        </p:xfrm>
        <a:graphic>
          <a:graphicData uri="http://schemas.openxmlformats.org/drawingml/2006/table">
            <a:tbl>
              <a:tblPr firstRow="1" bandRow="1">
                <a:tableStyleId>{3B4B98B0-60AC-42C2-AFA5-B58CD77FA1E5}</a:tableStyleId>
              </a:tblPr>
              <a:tblGrid>
                <a:gridCol w="3517899">
                  <a:extLst>
                    <a:ext uri="{9D8B030D-6E8A-4147-A177-3AD203B41FA5}">
                      <a16:colId xmlns:a16="http://schemas.microsoft.com/office/drawing/2014/main" val="4038644435"/>
                    </a:ext>
                  </a:extLst>
                </a:gridCol>
                <a:gridCol w="3517899">
                  <a:extLst>
                    <a:ext uri="{9D8B030D-6E8A-4147-A177-3AD203B41FA5}">
                      <a16:colId xmlns:a16="http://schemas.microsoft.com/office/drawing/2014/main" val="2587375720"/>
                    </a:ext>
                  </a:extLst>
                </a:gridCol>
                <a:gridCol w="3517899">
                  <a:extLst>
                    <a:ext uri="{9D8B030D-6E8A-4147-A177-3AD203B41FA5}">
                      <a16:colId xmlns:a16="http://schemas.microsoft.com/office/drawing/2014/main" val="823291273"/>
                    </a:ext>
                  </a:extLst>
                </a:gridCol>
              </a:tblGrid>
              <a:tr h="988134">
                <a:tc>
                  <a:txBody>
                    <a:bodyPr/>
                    <a:lstStyle/>
                    <a:p>
                      <a:pPr algn="ctr"/>
                      <a:r>
                        <a:rPr lang="en-IN" sz="1800" b="0" i="0" kern="1200" dirty="0">
                          <a:solidFill>
                            <a:schemeClr val="tx1"/>
                          </a:solidFill>
                          <a:effectLst/>
                          <a:latin typeface="+mn-lt"/>
                          <a:ea typeface="+mn-ea"/>
                          <a:cs typeface="+mn-cs"/>
                        </a:rPr>
                        <a:t>System Component</a:t>
                      </a:r>
                      <a:endParaRPr lang="en-IN" dirty="0"/>
                    </a:p>
                  </a:txBody>
                  <a:tcPr/>
                </a:tc>
                <a:tc>
                  <a:txBody>
                    <a:bodyPr/>
                    <a:lstStyle/>
                    <a:p>
                      <a:pPr algn="ctr"/>
                      <a:r>
                        <a:rPr lang="en-IN" sz="1800" b="0" i="0" kern="1200" dirty="0">
                          <a:solidFill>
                            <a:schemeClr val="tx1"/>
                          </a:solidFill>
                          <a:effectLst/>
                          <a:latin typeface="+mn-lt"/>
                          <a:ea typeface="+mn-ea"/>
                          <a:cs typeface="+mn-cs"/>
                        </a:rPr>
                        <a:t>Memory Usage</a:t>
                      </a:r>
                      <a:endParaRPr lang="en-IN" dirty="0"/>
                    </a:p>
                  </a:txBody>
                  <a:tcPr/>
                </a:tc>
                <a:tc>
                  <a:txBody>
                    <a:bodyPr/>
                    <a:lstStyle/>
                    <a:p>
                      <a:pPr algn="ctr"/>
                      <a:r>
                        <a:rPr lang="en-IN" sz="1800" b="0" i="0" kern="1200" dirty="0">
                          <a:solidFill>
                            <a:schemeClr val="tx1"/>
                          </a:solidFill>
                          <a:effectLst/>
                          <a:latin typeface="+mn-lt"/>
                          <a:ea typeface="+mn-ea"/>
                          <a:cs typeface="+mn-cs"/>
                        </a:rPr>
                        <a:t>Capacity</a:t>
                      </a:r>
                      <a:endParaRPr lang="en-IN" dirty="0"/>
                    </a:p>
                  </a:txBody>
                  <a:tcPr/>
                </a:tc>
                <a:extLst>
                  <a:ext uri="{0D108BD9-81ED-4DB2-BD59-A6C34878D82A}">
                    <a16:rowId xmlns:a16="http://schemas.microsoft.com/office/drawing/2014/main" val="1982830057"/>
                  </a:ext>
                </a:extLst>
              </a:tr>
              <a:tr h="988134">
                <a:tc>
                  <a:txBody>
                    <a:bodyPr/>
                    <a:lstStyle/>
                    <a:p>
                      <a:pPr algn="ctr">
                        <a:lnSpc>
                          <a:spcPts val="1875"/>
                        </a:lnSpc>
                        <a:buNone/>
                      </a:pPr>
                      <a:r>
                        <a:rPr lang="en-IN" b="0" dirty="0">
                          <a:effectLst/>
                          <a:latin typeface="quote-cjk-patch"/>
                        </a:rPr>
                        <a:t>ML Model Runtime</a:t>
                      </a:r>
                    </a:p>
                  </a:txBody>
                  <a:tcPr marR="76200" marT="47625" marB="47625" anchor="ctr"/>
                </a:tc>
                <a:tc>
                  <a:txBody>
                    <a:bodyPr/>
                    <a:lstStyle/>
                    <a:p>
                      <a:pPr algn="ctr">
                        <a:lnSpc>
                          <a:spcPts val="1875"/>
                        </a:lnSpc>
                        <a:buNone/>
                      </a:pPr>
                      <a:r>
                        <a:rPr lang="en-IN" sz="1800" b="0" i="0" kern="1200" dirty="0">
                          <a:solidFill>
                            <a:schemeClr val="tx1"/>
                          </a:solidFill>
                          <a:effectLst/>
                          <a:latin typeface="+mn-lt"/>
                          <a:ea typeface="+mn-ea"/>
                          <a:cs typeface="+mn-cs"/>
                        </a:rPr>
                        <a:t>6MB</a:t>
                      </a:r>
                      <a:endParaRPr lang="en-IN" b="0" dirty="0">
                        <a:effectLst/>
                        <a:latin typeface="quote-cjk-patch"/>
                      </a:endParaRPr>
                    </a:p>
                  </a:txBody>
                  <a:tcPr marL="76200" marR="76200" marT="47625" marB="47625" anchor="ctr"/>
                </a:tc>
                <a:tc>
                  <a:txBody>
                    <a:bodyPr/>
                    <a:lstStyle/>
                    <a:p>
                      <a:pPr algn="ctr">
                        <a:lnSpc>
                          <a:spcPts val="1875"/>
                        </a:lnSpc>
                        <a:buNone/>
                      </a:pPr>
                      <a:r>
                        <a:rPr lang="en-IN" b="0" dirty="0">
                          <a:effectLst/>
                          <a:latin typeface="quote-cjk-patch"/>
                        </a:rPr>
                        <a:t>15 patients</a:t>
                      </a:r>
                    </a:p>
                  </a:txBody>
                  <a:tcPr marL="76200" marT="47625" marB="47625" anchor="ctr"/>
                </a:tc>
                <a:extLst>
                  <a:ext uri="{0D108BD9-81ED-4DB2-BD59-A6C34878D82A}">
                    <a16:rowId xmlns:a16="http://schemas.microsoft.com/office/drawing/2014/main" val="4228328539"/>
                  </a:ext>
                </a:extLst>
              </a:tr>
              <a:tr h="988134">
                <a:tc>
                  <a:txBody>
                    <a:bodyPr/>
                    <a:lstStyle/>
                    <a:p>
                      <a:pPr algn="ctr">
                        <a:lnSpc>
                          <a:spcPts val="1875"/>
                        </a:lnSpc>
                        <a:buNone/>
                      </a:pPr>
                      <a:r>
                        <a:rPr lang="en-IN" b="0" dirty="0">
                          <a:effectLst/>
                          <a:latin typeface="quote-cjk-patch"/>
                        </a:rPr>
                        <a:t>Data Processing</a:t>
                      </a:r>
                    </a:p>
                  </a:txBody>
                  <a:tcPr marR="76200" marT="47625" marB="47625" anchor="ctr"/>
                </a:tc>
                <a:tc>
                  <a:txBody>
                    <a:bodyPr/>
                    <a:lstStyle/>
                    <a:p>
                      <a:pPr algn="ctr">
                        <a:lnSpc>
                          <a:spcPts val="1875"/>
                        </a:lnSpc>
                        <a:buNone/>
                      </a:pPr>
                      <a:r>
                        <a:rPr lang="en-IN" b="0" dirty="0">
                          <a:effectLst/>
                          <a:latin typeface="quote-cjk-patch"/>
                        </a:rPr>
                        <a:t>12MB</a:t>
                      </a:r>
                    </a:p>
                  </a:txBody>
                  <a:tcPr marL="76200" marR="76200" marT="47625" marB="47625" anchor="ctr"/>
                </a:tc>
                <a:tc>
                  <a:txBody>
                    <a:bodyPr/>
                    <a:lstStyle/>
                    <a:p>
                      <a:pPr algn="ctr">
                        <a:lnSpc>
                          <a:spcPts val="1875"/>
                        </a:lnSpc>
                        <a:buNone/>
                      </a:pPr>
                      <a:r>
                        <a:rPr lang="en-IN" b="0" dirty="0">
                          <a:effectLst/>
                          <a:latin typeface="quote-cjk-patch"/>
                        </a:rPr>
                        <a:t>Real-time streams</a:t>
                      </a:r>
                    </a:p>
                  </a:txBody>
                  <a:tcPr marL="76200" marT="47625" marB="47625" anchor="ctr"/>
                </a:tc>
                <a:extLst>
                  <a:ext uri="{0D108BD9-81ED-4DB2-BD59-A6C34878D82A}">
                    <a16:rowId xmlns:a16="http://schemas.microsoft.com/office/drawing/2014/main" val="3824289220"/>
                  </a:ext>
                </a:extLst>
              </a:tr>
              <a:tr h="988134">
                <a:tc>
                  <a:txBody>
                    <a:bodyPr/>
                    <a:lstStyle/>
                    <a:p>
                      <a:pPr algn="ctr">
                        <a:lnSpc>
                          <a:spcPts val="1875"/>
                        </a:lnSpc>
                        <a:buNone/>
                      </a:pPr>
                      <a:r>
                        <a:rPr lang="en-IN" b="0" dirty="0">
                          <a:effectLst/>
                          <a:latin typeface="quote-cjk-patch"/>
                        </a:rPr>
                        <a:t>Orchestration Engine</a:t>
                      </a:r>
                    </a:p>
                  </a:txBody>
                  <a:tcPr marR="76200" marT="47625" marB="47625" anchor="ctr"/>
                </a:tc>
                <a:tc>
                  <a:txBody>
                    <a:bodyPr/>
                    <a:lstStyle/>
                    <a:p>
                      <a:pPr algn="ctr">
                        <a:lnSpc>
                          <a:spcPts val="1875"/>
                        </a:lnSpc>
                        <a:buNone/>
                      </a:pPr>
                      <a:r>
                        <a:rPr lang="en-IN" b="0" dirty="0">
                          <a:effectLst/>
                          <a:latin typeface="quote-cjk-patch"/>
                        </a:rPr>
                        <a:t>8MB</a:t>
                      </a:r>
                    </a:p>
                  </a:txBody>
                  <a:tcPr marL="76200" marR="76200" marT="47625" marB="47625" anchor="ctr"/>
                </a:tc>
                <a:tc>
                  <a:txBody>
                    <a:bodyPr/>
                    <a:lstStyle/>
                    <a:p>
                      <a:pPr algn="ctr">
                        <a:lnSpc>
                          <a:spcPts val="1875"/>
                        </a:lnSpc>
                        <a:buNone/>
                      </a:pPr>
                      <a:r>
                        <a:rPr lang="en-IN" b="0" dirty="0">
                          <a:effectLst/>
                          <a:latin typeface="quote-cjk-patch"/>
                        </a:rPr>
                        <a:t>Dynamic routing</a:t>
                      </a:r>
                    </a:p>
                  </a:txBody>
                  <a:tcPr marL="76200" marT="47625" marB="47625" anchor="ctr"/>
                </a:tc>
                <a:extLst>
                  <a:ext uri="{0D108BD9-81ED-4DB2-BD59-A6C34878D82A}">
                    <a16:rowId xmlns:a16="http://schemas.microsoft.com/office/drawing/2014/main" val="1917115048"/>
                  </a:ext>
                </a:extLst>
              </a:tr>
            </a:tbl>
          </a:graphicData>
        </a:graphic>
      </p:graphicFrame>
    </p:spTree>
    <p:extLst>
      <p:ext uri="{BB962C8B-B14F-4D97-AF65-F5344CB8AC3E}">
        <p14:creationId xmlns:p14="http://schemas.microsoft.com/office/powerpoint/2010/main" val="1472671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906D5-7299-C94B-E03B-137E03C72E69}"/>
              </a:ext>
            </a:extLst>
          </p:cNvPr>
          <p:cNvSpPr>
            <a:spLocks noGrp="1"/>
          </p:cNvSpPr>
          <p:nvPr>
            <p:ph type="title"/>
          </p:nvPr>
        </p:nvSpPr>
        <p:spPr>
          <a:xfrm>
            <a:off x="207026" y="427309"/>
            <a:ext cx="10571998" cy="970450"/>
          </a:xfrm>
        </p:spPr>
        <p:txBody>
          <a:bodyPr/>
          <a:lstStyle/>
          <a:p>
            <a:r>
              <a:rPr lang="en-IN" b="0" dirty="0">
                <a:solidFill>
                  <a:schemeClr val="bg1">
                    <a:lumMod val="85000"/>
                    <a:lumOff val="15000"/>
                  </a:schemeClr>
                </a:solidFill>
              </a:rPr>
              <a:t>Real World/Immediate Clinical Impact</a:t>
            </a:r>
          </a:p>
        </p:txBody>
      </p:sp>
      <p:graphicFrame>
        <p:nvGraphicFramePr>
          <p:cNvPr id="4" name="Content Placeholder 3">
            <a:extLst>
              <a:ext uri="{FF2B5EF4-FFF2-40B4-BE49-F238E27FC236}">
                <a16:creationId xmlns:a16="http://schemas.microsoft.com/office/drawing/2014/main" id="{428C8D0E-C921-3DAB-3262-465BE4429F43}"/>
              </a:ext>
            </a:extLst>
          </p:cNvPr>
          <p:cNvGraphicFramePr>
            <a:graphicFrameLocks noGrp="1"/>
          </p:cNvGraphicFramePr>
          <p:nvPr>
            <p:ph idx="1"/>
            <p:extLst>
              <p:ext uri="{D42A27DB-BD31-4B8C-83A1-F6EECF244321}">
                <p14:modId xmlns:p14="http://schemas.microsoft.com/office/powerpoint/2010/main" val="4212412688"/>
              </p:ext>
            </p:extLst>
          </p:nvPr>
        </p:nvGraphicFramePr>
        <p:xfrm>
          <a:off x="819150" y="2617303"/>
          <a:ext cx="10553700" cy="3379304"/>
        </p:xfrm>
        <a:graphic>
          <a:graphicData uri="http://schemas.openxmlformats.org/drawingml/2006/table">
            <a:tbl>
              <a:tblPr firstRow="1" bandRow="1">
                <a:tableStyleId>{3B4B98B0-60AC-42C2-AFA5-B58CD77FA1E5}</a:tableStyleId>
              </a:tblPr>
              <a:tblGrid>
                <a:gridCol w="2638425">
                  <a:extLst>
                    <a:ext uri="{9D8B030D-6E8A-4147-A177-3AD203B41FA5}">
                      <a16:colId xmlns:a16="http://schemas.microsoft.com/office/drawing/2014/main" val="3495997723"/>
                    </a:ext>
                  </a:extLst>
                </a:gridCol>
                <a:gridCol w="2638425">
                  <a:extLst>
                    <a:ext uri="{9D8B030D-6E8A-4147-A177-3AD203B41FA5}">
                      <a16:colId xmlns:a16="http://schemas.microsoft.com/office/drawing/2014/main" val="2832094094"/>
                    </a:ext>
                  </a:extLst>
                </a:gridCol>
                <a:gridCol w="2638425">
                  <a:extLst>
                    <a:ext uri="{9D8B030D-6E8A-4147-A177-3AD203B41FA5}">
                      <a16:colId xmlns:a16="http://schemas.microsoft.com/office/drawing/2014/main" val="865381277"/>
                    </a:ext>
                  </a:extLst>
                </a:gridCol>
                <a:gridCol w="2638425">
                  <a:extLst>
                    <a:ext uri="{9D8B030D-6E8A-4147-A177-3AD203B41FA5}">
                      <a16:colId xmlns:a16="http://schemas.microsoft.com/office/drawing/2014/main" val="1566789089"/>
                    </a:ext>
                  </a:extLst>
                </a:gridCol>
              </a:tblGrid>
              <a:tr h="844826">
                <a:tc>
                  <a:txBody>
                    <a:bodyPr/>
                    <a:lstStyle/>
                    <a:p>
                      <a:pPr algn="l">
                        <a:lnSpc>
                          <a:spcPts val="1875"/>
                        </a:lnSpc>
                        <a:buNone/>
                      </a:pPr>
                      <a:r>
                        <a:rPr lang="en-IN" b="0" dirty="0">
                          <a:effectLst/>
                          <a:latin typeface="quote-cjk-patch"/>
                        </a:rPr>
                        <a:t>Scenario</a:t>
                      </a:r>
                    </a:p>
                  </a:txBody>
                  <a:tcPr marR="76200" marT="47625" marB="47625" anchor="ctr"/>
                </a:tc>
                <a:tc>
                  <a:txBody>
                    <a:bodyPr/>
                    <a:lstStyle/>
                    <a:p>
                      <a:pPr algn="l">
                        <a:lnSpc>
                          <a:spcPts val="1875"/>
                        </a:lnSpc>
                        <a:buNone/>
                      </a:pPr>
                      <a:r>
                        <a:rPr lang="en-IN" b="0" dirty="0">
                          <a:effectLst/>
                          <a:latin typeface="quote-cjk-patch"/>
                        </a:rPr>
                        <a:t>Traditional System</a:t>
                      </a:r>
                    </a:p>
                  </a:txBody>
                  <a:tcPr marL="76200" marR="76200" marT="47625" marB="47625" anchor="ctr"/>
                </a:tc>
                <a:tc>
                  <a:txBody>
                    <a:bodyPr/>
                    <a:lstStyle/>
                    <a:p>
                      <a:pPr algn="l">
                        <a:lnSpc>
                          <a:spcPts val="1875"/>
                        </a:lnSpc>
                        <a:buNone/>
                      </a:pPr>
                      <a:r>
                        <a:rPr lang="en-IN" b="0" dirty="0">
                          <a:effectLst/>
                          <a:latin typeface="quote-cjk-patch"/>
                        </a:rPr>
                        <a:t>Our Solution</a:t>
                      </a:r>
                    </a:p>
                  </a:txBody>
                  <a:tcPr marL="76200" marR="76200" marT="47625" marB="47625" anchor="ctr"/>
                </a:tc>
                <a:tc>
                  <a:txBody>
                    <a:bodyPr/>
                    <a:lstStyle/>
                    <a:p>
                      <a:pPr algn="l">
                        <a:lnSpc>
                          <a:spcPts val="1875"/>
                        </a:lnSpc>
                        <a:buNone/>
                      </a:pPr>
                      <a:r>
                        <a:rPr lang="en-IN" b="0" dirty="0">
                          <a:effectLst/>
                          <a:latin typeface="quote-cjk-patch"/>
                        </a:rPr>
                        <a:t>Outcome</a:t>
                      </a:r>
                    </a:p>
                  </a:txBody>
                  <a:tcPr marL="76200" marR="76200" marT="47625" marB="47625" anchor="ctr"/>
                </a:tc>
                <a:extLst>
                  <a:ext uri="{0D108BD9-81ED-4DB2-BD59-A6C34878D82A}">
                    <a16:rowId xmlns:a16="http://schemas.microsoft.com/office/drawing/2014/main" val="3491936782"/>
                  </a:ext>
                </a:extLst>
              </a:tr>
              <a:tr h="844826">
                <a:tc>
                  <a:txBody>
                    <a:bodyPr/>
                    <a:lstStyle/>
                    <a:p>
                      <a:pPr>
                        <a:lnSpc>
                          <a:spcPts val="1875"/>
                        </a:lnSpc>
                        <a:buNone/>
                      </a:pPr>
                      <a:r>
                        <a:rPr lang="en-IN" b="0" dirty="0">
                          <a:effectLst/>
                          <a:latin typeface="quote-cjk-patch"/>
                        </a:rPr>
                        <a:t>Cardiac Arrest</a:t>
                      </a:r>
                    </a:p>
                  </a:txBody>
                  <a:tcPr marR="76200" marT="47625" marB="47625" anchor="ctr"/>
                </a:tc>
                <a:tc>
                  <a:txBody>
                    <a:bodyPr/>
                    <a:lstStyle/>
                    <a:p>
                      <a:pPr>
                        <a:lnSpc>
                          <a:spcPts val="1875"/>
                        </a:lnSpc>
                        <a:buNone/>
                      </a:pPr>
                      <a:r>
                        <a:rPr lang="en-IN" b="0" dirty="0">
                          <a:effectLst/>
                          <a:latin typeface="quote-cjk-patch"/>
                        </a:rPr>
                        <a:t>2-3 min detection</a:t>
                      </a:r>
                    </a:p>
                  </a:txBody>
                  <a:tcPr marL="76200" marR="76200" marT="47625" marB="47625" anchor="ctr"/>
                </a:tc>
                <a:tc>
                  <a:txBody>
                    <a:bodyPr/>
                    <a:lstStyle/>
                    <a:p>
                      <a:pPr>
                        <a:lnSpc>
                          <a:spcPts val="1875"/>
                        </a:lnSpc>
                        <a:buNone/>
                      </a:pPr>
                      <a:r>
                        <a:rPr lang="en-IN" b="0" dirty="0">
                          <a:effectLst/>
                          <a:latin typeface="quote-cjk-patch"/>
                        </a:rPr>
                        <a:t>45s detection</a:t>
                      </a:r>
                    </a:p>
                  </a:txBody>
                  <a:tcPr marL="76200" marR="76200" marT="47625" marB="47625" anchor="ctr"/>
                </a:tc>
                <a:tc>
                  <a:txBody>
                    <a:bodyPr/>
                    <a:lstStyle/>
                    <a:p>
                      <a:pPr>
                        <a:lnSpc>
                          <a:spcPts val="1875"/>
                        </a:lnSpc>
                        <a:buNone/>
                      </a:pPr>
                      <a:r>
                        <a:rPr lang="en-IN" b="0" dirty="0">
                          <a:effectLst/>
                          <a:latin typeface="quote-cjk-patch"/>
                        </a:rPr>
                        <a:t>67% faster response </a:t>
                      </a:r>
                    </a:p>
                  </a:txBody>
                  <a:tcPr marL="76200" marT="47625" marB="47625" anchor="ctr"/>
                </a:tc>
                <a:extLst>
                  <a:ext uri="{0D108BD9-81ED-4DB2-BD59-A6C34878D82A}">
                    <a16:rowId xmlns:a16="http://schemas.microsoft.com/office/drawing/2014/main" val="856240237"/>
                  </a:ext>
                </a:extLst>
              </a:tr>
              <a:tr h="844826">
                <a:tc>
                  <a:txBody>
                    <a:bodyPr/>
                    <a:lstStyle/>
                    <a:p>
                      <a:pPr>
                        <a:lnSpc>
                          <a:spcPts val="1875"/>
                        </a:lnSpc>
                        <a:buNone/>
                      </a:pPr>
                      <a:r>
                        <a:rPr lang="en-IN" b="0" dirty="0">
                          <a:effectLst/>
                          <a:latin typeface="quote-cjk-patch"/>
                        </a:rPr>
                        <a:t>Routine Monitoring</a:t>
                      </a:r>
                    </a:p>
                  </a:txBody>
                  <a:tcPr marR="76200" marT="47625" marB="47625" anchor="ctr"/>
                </a:tc>
                <a:tc>
                  <a:txBody>
                    <a:bodyPr/>
                    <a:lstStyle/>
                    <a:p>
                      <a:pPr>
                        <a:lnSpc>
                          <a:spcPts val="1875"/>
                        </a:lnSpc>
                        <a:buNone/>
                      </a:pPr>
                      <a:r>
                        <a:rPr lang="en-IN" b="0" dirty="0">
                          <a:effectLst/>
                          <a:latin typeface="quote-cjk-patch"/>
                        </a:rPr>
                        <a:t>Manual review</a:t>
                      </a:r>
                    </a:p>
                  </a:txBody>
                  <a:tcPr marL="76200" marR="76200" marT="47625" marB="47625" anchor="ctr"/>
                </a:tc>
                <a:tc>
                  <a:txBody>
                    <a:bodyPr/>
                    <a:lstStyle/>
                    <a:p>
                      <a:pPr>
                        <a:lnSpc>
                          <a:spcPts val="1875"/>
                        </a:lnSpc>
                        <a:buNone/>
                      </a:pPr>
                      <a:r>
                        <a:rPr lang="en-IN" b="0" dirty="0">
                          <a:effectLst/>
                          <a:latin typeface="quote-cjk-patch"/>
                        </a:rPr>
                        <a:t>AI-automated</a:t>
                      </a:r>
                    </a:p>
                  </a:txBody>
                  <a:tcPr marL="76200" marR="76200" marT="47625" marB="47625" anchor="ctr"/>
                </a:tc>
                <a:tc>
                  <a:txBody>
                    <a:bodyPr/>
                    <a:lstStyle/>
                    <a:p>
                      <a:pPr>
                        <a:lnSpc>
                          <a:spcPts val="1875"/>
                        </a:lnSpc>
                        <a:buNone/>
                      </a:pPr>
                      <a:r>
                        <a:rPr lang="en-IN" b="0" dirty="0">
                          <a:effectLst/>
                          <a:latin typeface="quote-cjk-patch"/>
                        </a:rPr>
                        <a:t>24/7 coverage </a:t>
                      </a:r>
                    </a:p>
                  </a:txBody>
                  <a:tcPr marL="76200" marT="47625" marB="47625" anchor="ctr"/>
                </a:tc>
                <a:extLst>
                  <a:ext uri="{0D108BD9-81ED-4DB2-BD59-A6C34878D82A}">
                    <a16:rowId xmlns:a16="http://schemas.microsoft.com/office/drawing/2014/main" val="1917428563"/>
                  </a:ext>
                </a:extLst>
              </a:tr>
              <a:tr h="844826">
                <a:tc>
                  <a:txBody>
                    <a:bodyPr/>
                    <a:lstStyle/>
                    <a:p>
                      <a:pPr>
                        <a:lnSpc>
                          <a:spcPts val="1875"/>
                        </a:lnSpc>
                        <a:buNone/>
                      </a:pPr>
                      <a:r>
                        <a:rPr lang="en-IN" b="0" dirty="0">
                          <a:effectLst/>
                          <a:latin typeface="quote-cjk-patch"/>
                        </a:rPr>
                        <a:t>Emergency Triage</a:t>
                      </a:r>
                    </a:p>
                  </a:txBody>
                  <a:tcPr marR="76200" marT="47625" marB="47625" anchor="ctr"/>
                </a:tc>
                <a:tc>
                  <a:txBody>
                    <a:bodyPr/>
                    <a:lstStyle/>
                    <a:p>
                      <a:pPr>
                        <a:lnSpc>
                          <a:spcPts val="1875"/>
                        </a:lnSpc>
                        <a:buNone/>
                      </a:pPr>
                      <a:r>
                        <a:rPr lang="en-IN" b="0" dirty="0">
                          <a:effectLst/>
                          <a:latin typeface="quote-cjk-patch"/>
                        </a:rPr>
                        <a:t>Nurse assessment</a:t>
                      </a:r>
                    </a:p>
                  </a:txBody>
                  <a:tcPr marL="76200" marR="76200" marT="47625" marB="47625" anchor="ctr"/>
                </a:tc>
                <a:tc>
                  <a:txBody>
                    <a:bodyPr/>
                    <a:lstStyle/>
                    <a:p>
                      <a:pPr>
                        <a:lnSpc>
                          <a:spcPts val="1875"/>
                        </a:lnSpc>
                        <a:buNone/>
                      </a:pPr>
                      <a:r>
                        <a:rPr lang="en-IN" b="0" dirty="0">
                          <a:effectLst/>
                          <a:latin typeface="quote-cjk-patch"/>
                        </a:rPr>
                        <a:t>ML-prioritized</a:t>
                      </a:r>
                    </a:p>
                  </a:txBody>
                  <a:tcPr marL="76200" marR="76200" marT="47625" marB="47625" anchor="ctr"/>
                </a:tc>
                <a:tc>
                  <a:txBody>
                    <a:bodyPr/>
                    <a:lstStyle/>
                    <a:p>
                      <a:pPr>
                        <a:lnSpc>
                          <a:spcPts val="1875"/>
                        </a:lnSpc>
                        <a:buNone/>
                      </a:pPr>
                      <a:r>
                        <a:rPr lang="en-IN" b="0" dirty="0">
                          <a:effectLst/>
                          <a:latin typeface="quote-cjk-patch"/>
                        </a:rPr>
                        <a:t>Reduced human error </a:t>
                      </a:r>
                    </a:p>
                  </a:txBody>
                  <a:tcPr marL="76200" marT="47625" marB="47625" anchor="ctr"/>
                </a:tc>
                <a:extLst>
                  <a:ext uri="{0D108BD9-81ED-4DB2-BD59-A6C34878D82A}">
                    <a16:rowId xmlns:a16="http://schemas.microsoft.com/office/drawing/2014/main" val="2953160828"/>
                  </a:ext>
                </a:extLst>
              </a:tr>
            </a:tbl>
          </a:graphicData>
        </a:graphic>
      </p:graphicFrame>
    </p:spTree>
    <p:extLst>
      <p:ext uri="{BB962C8B-B14F-4D97-AF65-F5344CB8AC3E}">
        <p14:creationId xmlns:p14="http://schemas.microsoft.com/office/powerpoint/2010/main" val="3552670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1640A-B7F9-2862-2BC2-70C84C4AB1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BDFBF4-C591-5CCF-DB6C-9BA10963BCB8}"/>
              </a:ext>
            </a:extLst>
          </p:cNvPr>
          <p:cNvSpPr>
            <a:spLocks noGrp="1"/>
          </p:cNvSpPr>
          <p:nvPr>
            <p:ph type="title"/>
          </p:nvPr>
        </p:nvSpPr>
        <p:spPr>
          <a:xfrm>
            <a:off x="207026" y="427309"/>
            <a:ext cx="10571998" cy="970450"/>
          </a:xfrm>
        </p:spPr>
        <p:txBody>
          <a:bodyPr/>
          <a:lstStyle/>
          <a:p>
            <a:r>
              <a:rPr lang="en-IN" b="0" dirty="0">
                <a:solidFill>
                  <a:schemeClr val="bg1">
                    <a:lumMod val="85000"/>
                    <a:lumOff val="15000"/>
                  </a:schemeClr>
                </a:solidFill>
              </a:rPr>
              <a:t>Working mechanism of CI Model </a:t>
            </a:r>
          </a:p>
        </p:txBody>
      </p:sp>
      <p:sp>
        <p:nvSpPr>
          <p:cNvPr id="5" name="Content Placeholder 4">
            <a:extLst>
              <a:ext uri="{FF2B5EF4-FFF2-40B4-BE49-F238E27FC236}">
                <a16:creationId xmlns:a16="http://schemas.microsoft.com/office/drawing/2014/main" id="{65198476-CEB8-F086-A0C2-E83778B5C2F2}"/>
              </a:ext>
            </a:extLst>
          </p:cNvPr>
          <p:cNvSpPr>
            <a:spLocks noGrp="1"/>
          </p:cNvSpPr>
          <p:nvPr>
            <p:ph idx="1"/>
          </p:nvPr>
        </p:nvSpPr>
        <p:spPr>
          <a:xfrm>
            <a:off x="355162" y="2000037"/>
            <a:ext cx="6109138" cy="4788113"/>
          </a:xfrm>
        </p:spPr>
        <p:txBody>
          <a:bodyPr>
            <a:normAutofit fontScale="92500" lnSpcReduction="20000"/>
          </a:bodyPr>
          <a:lstStyle/>
          <a:p>
            <a:pPr marL="0" indent="0">
              <a:lnSpc>
                <a:spcPct val="160000"/>
              </a:lnSpc>
              <a:buNone/>
            </a:pPr>
            <a:r>
              <a:rPr lang="en-IN" b="1" dirty="0"/>
              <a:t>Overview:</a:t>
            </a:r>
            <a:endParaRPr lang="en-IN" dirty="0"/>
          </a:p>
          <a:p>
            <a:pPr>
              <a:lnSpc>
                <a:spcPct val="160000"/>
              </a:lnSpc>
            </a:pPr>
            <a:r>
              <a:rPr lang="en-IN" dirty="0"/>
              <a:t>3-stage hybrid algorithm for real-time anomaly detection</a:t>
            </a:r>
          </a:p>
          <a:p>
            <a:pPr>
              <a:lnSpc>
                <a:spcPct val="160000"/>
              </a:lnSpc>
            </a:pPr>
            <a:r>
              <a:rPr lang="en-IN" dirty="0"/>
              <a:t>Total processing time: ~ 1.09ms</a:t>
            </a:r>
          </a:p>
          <a:p>
            <a:pPr marL="0" indent="0">
              <a:lnSpc>
                <a:spcPct val="160000"/>
              </a:lnSpc>
              <a:buNone/>
            </a:pPr>
            <a:r>
              <a:rPr lang="en-IN" b="1" dirty="0"/>
              <a:t>Stage 1: CNN Feature Extraction </a:t>
            </a:r>
          </a:p>
          <a:p>
            <a:pPr>
              <a:lnSpc>
                <a:spcPct val="160000"/>
              </a:lnSpc>
              <a:buSzPct val="125000"/>
              <a:buFont typeface="Century Gothic" panose="020B0502020202020204" pitchFamily="34" charset="0"/>
              <a:buChar char="o"/>
            </a:pPr>
            <a:r>
              <a:rPr lang="en-IN" dirty="0"/>
              <a:t>Input: 5 normalized vital signs</a:t>
            </a:r>
          </a:p>
          <a:p>
            <a:pPr>
              <a:lnSpc>
                <a:spcPct val="160000"/>
              </a:lnSpc>
            </a:pPr>
            <a:r>
              <a:rPr lang="en-IN" dirty="0"/>
              <a:t>Output: 8 features via 5→8 neuron network </a:t>
            </a:r>
            <a:r>
              <a:rPr lang="en-IN"/>
              <a:t>with swish</a:t>
            </a:r>
            <a:endParaRPr lang="en-IN" dirty="0"/>
          </a:p>
          <a:p>
            <a:pPr marL="0" indent="0">
              <a:lnSpc>
                <a:spcPct val="160000"/>
              </a:lnSpc>
              <a:buNone/>
            </a:pPr>
            <a:r>
              <a:rPr lang="en-IN" b="1" dirty="0"/>
              <a:t>Stage 2: PSO Optimization </a:t>
            </a:r>
          </a:p>
          <a:p>
            <a:pPr>
              <a:lnSpc>
                <a:spcPct val="160000"/>
              </a:lnSpc>
              <a:buSzPct val="125000"/>
              <a:buFont typeface="Century Gothic" panose="020B0502020202020204" pitchFamily="34" charset="0"/>
              <a:buChar char="o"/>
            </a:pPr>
            <a:r>
              <a:rPr lang="en-IN" dirty="0"/>
              <a:t>30 particles optimize 8 feature weights</a:t>
            </a:r>
          </a:p>
          <a:p>
            <a:pPr>
              <a:lnSpc>
                <a:spcPct val="160000"/>
              </a:lnSpc>
            </a:pPr>
            <a:r>
              <a:rPr lang="en-IN" dirty="0"/>
              <a:t>Fitness: Classification accuracy</a:t>
            </a:r>
          </a:p>
        </p:txBody>
      </p:sp>
      <p:sp>
        <p:nvSpPr>
          <p:cNvPr id="3" name="TextBox 2">
            <a:extLst>
              <a:ext uri="{FF2B5EF4-FFF2-40B4-BE49-F238E27FC236}">
                <a16:creationId xmlns:a16="http://schemas.microsoft.com/office/drawing/2014/main" id="{5954462E-B65E-C24B-4E51-284073532E2B}"/>
              </a:ext>
            </a:extLst>
          </p:cNvPr>
          <p:cNvSpPr txBox="1"/>
          <p:nvPr/>
        </p:nvSpPr>
        <p:spPr>
          <a:xfrm>
            <a:off x="6718852" y="2000037"/>
            <a:ext cx="5231848" cy="4685898"/>
          </a:xfrm>
          <a:prstGeom prst="rect">
            <a:avLst/>
          </a:prstGeom>
          <a:noFill/>
        </p:spPr>
        <p:txBody>
          <a:bodyPr wrap="square" rtlCol="0">
            <a:spAutoFit/>
          </a:bodyPr>
          <a:lstStyle/>
          <a:p>
            <a:pPr>
              <a:lnSpc>
                <a:spcPct val="150000"/>
              </a:lnSpc>
              <a:buClr>
                <a:srgbClr val="00C6BB"/>
              </a:buClr>
              <a:buSzPct val="125000"/>
            </a:pPr>
            <a:r>
              <a:rPr lang="en-IN" sz="1700" b="1" dirty="0"/>
              <a:t>Stage 3: Fuzzy Logic Classification </a:t>
            </a:r>
            <a:endParaRPr lang="en-IN" sz="1700" dirty="0"/>
          </a:p>
          <a:p>
            <a:pPr marL="285750" indent="-285750">
              <a:lnSpc>
                <a:spcPct val="150000"/>
              </a:lnSpc>
              <a:buClr>
                <a:srgbClr val="00C6BB"/>
              </a:buClr>
              <a:buSzPct val="125000"/>
              <a:buFont typeface="Century Gothic" panose="020B0502020202020204" pitchFamily="34" charset="0"/>
              <a:buChar char="o"/>
            </a:pPr>
            <a:r>
              <a:rPr lang="en-IN" sz="1700" dirty="0"/>
              <a:t>Triangular membership functions</a:t>
            </a:r>
          </a:p>
          <a:p>
            <a:pPr marL="285750" indent="-285750">
              <a:lnSpc>
                <a:spcPct val="150000"/>
              </a:lnSpc>
              <a:buClr>
                <a:srgbClr val="00C6BB"/>
              </a:buClr>
              <a:buSzPct val="125000"/>
              <a:buFont typeface="Century Gothic" panose="020B0502020202020204" pitchFamily="34" charset="0"/>
              <a:buChar char="o"/>
            </a:pPr>
            <a:r>
              <a:rPr lang="en-IN" sz="1700" dirty="0"/>
              <a:t>Output: Class (Normal/Warning/Critical) + Confidence + Alert</a:t>
            </a:r>
          </a:p>
          <a:p>
            <a:pPr>
              <a:lnSpc>
                <a:spcPct val="150000"/>
              </a:lnSpc>
              <a:buClr>
                <a:srgbClr val="00C6BB"/>
              </a:buClr>
              <a:buSzPct val="125000"/>
            </a:pPr>
            <a:r>
              <a:rPr lang="en-IN" sz="1700" b="1" dirty="0"/>
              <a:t>Performance:</a:t>
            </a:r>
            <a:endParaRPr lang="en-IN" sz="1700" dirty="0"/>
          </a:p>
          <a:p>
            <a:pPr marL="285750" indent="-285750">
              <a:lnSpc>
                <a:spcPct val="150000"/>
              </a:lnSpc>
              <a:buClr>
                <a:srgbClr val="00C6BB"/>
              </a:buClr>
              <a:buSzPct val="125000"/>
              <a:buFont typeface="Century Gothic" panose="020B0502020202020204" pitchFamily="34" charset="0"/>
              <a:buChar char="o"/>
            </a:pPr>
            <a:r>
              <a:rPr lang="en-IN" sz="1700" dirty="0"/>
              <a:t>Accuracy: 87.78% | Alert precision: 97.03%</a:t>
            </a:r>
          </a:p>
          <a:p>
            <a:pPr marL="285750" indent="-285750">
              <a:lnSpc>
                <a:spcPct val="150000"/>
              </a:lnSpc>
              <a:buClr>
                <a:srgbClr val="00C6BB"/>
              </a:buClr>
              <a:buSzPct val="125000"/>
              <a:buFont typeface="Century Gothic" panose="020B0502020202020204" pitchFamily="34" charset="0"/>
              <a:buChar char="o"/>
            </a:pPr>
            <a:r>
              <a:rPr lang="en-IN" sz="1700" dirty="0"/>
              <a:t>Per-class accuracy: Normal 100%, Warning 68.3%, Critical 95%</a:t>
            </a:r>
          </a:p>
          <a:p>
            <a:pPr marL="285750" indent="-285750">
              <a:lnSpc>
                <a:spcPct val="150000"/>
              </a:lnSpc>
              <a:buClr>
                <a:srgbClr val="00C6BB"/>
              </a:buClr>
              <a:buSzPct val="125000"/>
              <a:buFont typeface="Century Gothic" panose="020B0502020202020204" pitchFamily="34" charset="0"/>
              <a:buChar char="o"/>
            </a:pPr>
            <a:r>
              <a:rPr lang="en-IN" sz="1700" dirty="0"/>
              <a:t>Inference latency: &lt;2 </a:t>
            </a:r>
            <a:r>
              <a:rPr lang="en-IN" sz="1700" dirty="0" err="1"/>
              <a:t>ms</a:t>
            </a:r>
            <a:r>
              <a:rPr lang="en-IN" sz="1700" dirty="0"/>
              <a:t> (real-time capable)</a:t>
            </a:r>
          </a:p>
          <a:p>
            <a:pPr marL="285750" indent="-285750">
              <a:lnSpc>
                <a:spcPct val="150000"/>
              </a:lnSpc>
              <a:buClr>
                <a:srgbClr val="00C6BB"/>
              </a:buClr>
              <a:buSzPct val="125000"/>
              <a:buFont typeface="Century Gothic" panose="020B0502020202020204" pitchFamily="34" charset="0"/>
              <a:buChar char="o"/>
            </a:pPr>
            <a:r>
              <a:rPr lang="en-IN" sz="1700" dirty="0"/>
              <a:t>Resource efficiency: ~ 33 MB memory, 72 trainable weights</a:t>
            </a:r>
          </a:p>
          <a:p>
            <a:endParaRPr lang="en-IN" dirty="0"/>
          </a:p>
        </p:txBody>
      </p:sp>
    </p:spTree>
    <p:extLst>
      <p:ext uri="{BB962C8B-B14F-4D97-AF65-F5344CB8AC3E}">
        <p14:creationId xmlns:p14="http://schemas.microsoft.com/office/powerpoint/2010/main" val="2953481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3BCD0-77BC-9CAE-D638-E1C4353B95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35E4F2-337B-DA62-EF43-F487F7BC1EAF}"/>
              </a:ext>
            </a:extLst>
          </p:cNvPr>
          <p:cNvSpPr>
            <a:spLocks noGrp="1"/>
          </p:cNvSpPr>
          <p:nvPr>
            <p:ph type="title"/>
          </p:nvPr>
        </p:nvSpPr>
        <p:spPr>
          <a:xfrm>
            <a:off x="207026" y="427309"/>
            <a:ext cx="10571998" cy="970450"/>
          </a:xfrm>
        </p:spPr>
        <p:txBody>
          <a:bodyPr/>
          <a:lstStyle/>
          <a:p>
            <a:r>
              <a:rPr lang="en-IN" b="0" dirty="0">
                <a:solidFill>
                  <a:schemeClr val="bg1">
                    <a:lumMod val="85000"/>
                    <a:lumOff val="15000"/>
                  </a:schemeClr>
                </a:solidFill>
              </a:rPr>
              <a:t>Working mechanism of CI Model </a:t>
            </a:r>
          </a:p>
        </p:txBody>
      </p:sp>
      <p:sp>
        <p:nvSpPr>
          <p:cNvPr id="5" name="Content Placeholder 4">
            <a:extLst>
              <a:ext uri="{FF2B5EF4-FFF2-40B4-BE49-F238E27FC236}">
                <a16:creationId xmlns:a16="http://schemas.microsoft.com/office/drawing/2014/main" id="{643CB7B8-5318-7154-F63A-113E74550719}"/>
              </a:ext>
            </a:extLst>
          </p:cNvPr>
          <p:cNvSpPr>
            <a:spLocks noGrp="1"/>
          </p:cNvSpPr>
          <p:nvPr>
            <p:ph idx="1"/>
          </p:nvPr>
        </p:nvSpPr>
        <p:spPr>
          <a:xfrm>
            <a:off x="207026" y="2621008"/>
            <a:ext cx="5832267" cy="3636511"/>
          </a:xfrm>
        </p:spPr>
        <p:txBody>
          <a:bodyPr>
            <a:normAutofit/>
          </a:bodyPr>
          <a:lstStyle/>
          <a:p>
            <a:pPr marL="0" indent="0">
              <a:buNone/>
            </a:pPr>
            <a:r>
              <a:rPr lang="en-IN" b="1" dirty="0"/>
              <a:t>Input Monitoring:</a:t>
            </a:r>
            <a:endParaRPr lang="en-IN" dirty="0"/>
          </a:p>
          <a:p>
            <a:r>
              <a:rPr lang="en-IN" dirty="0"/>
              <a:t>5 vital signs: Temperature, BP(Systolic, Diastolic), Respiration Rate, Heart Rate</a:t>
            </a:r>
          </a:p>
          <a:p>
            <a:r>
              <a:rPr lang="en-IN" dirty="0"/>
              <a:t>Normalized to [0,1] range</a:t>
            </a:r>
          </a:p>
          <a:p>
            <a:pPr marL="0" indent="0">
              <a:buNone/>
            </a:pPr>
            <a:r>
              <a:rPr lang="en-IN" b="1" dirty="0"/>
              <a:t>Processing:</a:t>
            </a:r>
            <a:endParaRPr lang="en-IN" dirty="0"/>
          </a:p>
          <a:p>
            <a:r>
              <a:rPr lang="en-IN" dirty="0"/>
              <a:t>CNN extracts patterns from vitals</a:t>
            </a:r>
          </a:p>
          <a:p>
            <a:r>
              <a:rPr lang="en-IN" dirty="0"/>
              <a:t>PSO optimizes feature importance</a:t>
            </a:r>
          </a:p>
          <a:p>
            <a:r>
              <a:rPr lang="en-IN" dirty="0"/>
              <a:t>Fuzzy logic classifies patient condition</a:t>
            </a:r>
          </a:p>
          <a:p>
            <a:endParaRPr lang="en-IN" dirty="0"/>
          </a:p>
        </p:txBody>
      </p:sp>
      <p:sp>
        <p:nvSpPr>
          <p:cNvPr id="4" name="TextBox 3">
            <a:extLst>
              <a:ext uri="{FF2B5EF4-FFF2-40B4-BE49-F238E27FC236}">
                <a16:creationId xmlns:a16="http://schemas.microsoft.com/office/drawing/2014/main" id="{063A2DF0-30B1-7EAC-E8DE-D347B7E07132}"/>
              </a:ext>
            </a:extLst>
          </p:cNvPr>
          <p:cNvSpPr txBox="1"/>
          <p:nvPr/>
        </p:nvSpPr>
        <p:spPr>
          <a:xfrm>
            <a:off x="6152708" y="2621008"/>
            <a:ext cx="5905941" cy="3693319"/>
          </a:xfrm>
          <a:prstGeom prst="rect">
            <a:avLst/>
          </a:prstGeom>
          <a:noFill/>
        </p:spPr>
        <p:txBody>
          <a:bodyPr wrap="square" rtlCol="0">
            <a:spAutoFit/>
          </a:bodyPr>
          <a:lstStyle/>
          <a:p>
            <a:pPr>
              <a:lnSpc>
                <a:spcPct val="150000"/>
              </a:lnSpc>
              <a:buClr>
                <a:srgbClr val="00C6BB"/>
              </a:buClr>
            </a:pPr>
            <a:r>
              <a:rPr lang="en-IN" b="1" dirty="0"/>
              <a:t>Decision Routing:</a:t>
            </a:r>
            <a:endParaRPr lang="en-IN" dirty="0"/>
          </a:p>
          <a:p>
            <a:pPr marL="285750" indent="-285750">
              <a:lnSpc>
                <a:spcPct val="150000"/>
              </a:lnSpc>
              <a:buClr>
                <a:srgbClr val="00C6BB"/>
              </a:buClr>
              <a:buSzPct val="125000"/>
              <a:buFont typeface="Century Gothic" panose="020B0502020202020204" pitchFamily="34" charset="0"/>
              <a:buChar char="o"/>
            </a:pPr>
            <a:r>
              <a:rPr lang="en-IN" b="1" dirty="0"/>
              <a:t>Normal:</a:t>
            </a:r>
            <a:r>
              <a:rPr lang="en-IN" dirty="0"/>
              <a:t> Local logging → Cloud (batch)</a:t>
            </a:r>
          </a:p>
          <a:p>
            <a:pPr marL="285750" indent="-285750">
              <a:lnSpc>
                <a:spcPct val="150000"/>
              </a:lnSpc>
              <a:buClr>
                <a:srgbClr val="00C6BB"/>
              </a:buClr>
              <a:buSzPct val="125000"/>
              <a:buFont typeface="Century Gothic" panose="020B0502020202020204" pitchFamily="34" charset="0"/>
              <a:buChar char="o"/>
            </a:pPr>
            <a:r>
              <a:rPr lang="en-IN" b="1" dirty="0"/>
              <a:t>Warning:</a:t>
            </a:r>
            <a:r>
              <a:rPr lang="en-IN" dirty="0"/>
              <a:t> Fog monitoring → Cloud</a:t>
            </a:r>
          </a:p>
          <a:p>
            <a:pPr marL="285750" indent="-285750">
              <a:lnSpc>
                <a:spcPct val="150000"/>
              </a:lnSpc>
              <a:buClr>
                <a:srgbClr val="00C6BB"/>
              </a:buClr>
              <a:buSzPct val="125000"/>
              <a:buFont typeface="Century Gothic" panose="020B0502020202020204" pitchFamily="34" charset="0"/>
              <a:buChar char="o"/>
            </a:pPr>
            <a:r>
              <a:rPr lang="en-IN" b="1" dirty="0"/>
              <a:t>Critical:</a:t>
            </a:r>
            <a:r>
              <a:rPr lang="en-IN" dirty="0"/>
              <a:t> Immediate alert → Priority backup</a:t>
            </a:r>
          </a:p>
          <a:p>
            <a:pPr>
              <a:lnSpc>
                <a:spcPct val="150000"/>
              </a:lnSpc>
              <a:buClr>
                <a:srgbClr val="00C6BB"/>
              </a:buClr>
            </a:pPr>
            <a:r>
              <a:rPr lang="en-IN" b="1" dirty="0"/>
              <a:t>Key Advantages:</a:t>
            </a:r>
            <a:endParaRPr lang="en-IN" dirty="0"/>
          </a:p>
          <a:p>
            <a:pPr marL="285750" indent="-285750">
              <a:lnSpc>
                <a:spcPct val="150000"/>
              </a:lnSpc>
              <a:buClr>
                <a:srgbClr val="00C6BB"/>
              </a:buClr>
              <a:buSzPct val="125000"/>
              <a:buFont typeface="Century Gothic" panose="020B0502020202020204" pitchFamily="34" charset="0"/>
              <a:buChar char="o"/>
            </a:pPr>
            <a:r>
              <a:rPr lang="en-IN" dirty="0"/>
              <a:t>Sub-millisecond to millisecond processing</a:t>
            </a:r>
          </a:p>
          <a:p>
            <a:pPr marL="285750" indent="-285750">
              <a:lnSpc>
                <a:spcPct val="150000"/>
              </a:lnSpc>
              <a:buClr>
                <a:srgbClr val="00C6BB"/>
              </a:buClr>
              <a:buSzPct val="125000"/>
              <a:buFont typeface="Century Gothic" panose="020B0502020202020204" pitchFamily="34" charset="0"/>
              <a:buChar char="o"/>
            </a:pPr>
            <a:r>
              <a:rPr lang="en-IN" dirty="0"/>
              <a:t>Explainable fuzzy rules</a:t>
            </a:r>
          </a:p>
          <a:p>
            <a:pPr marL="285750" indent="-285750">
              <a:lnSpc>
                <a:spcPct val="150000"/>
              </a:lnSpc>
              <a:buClr>
                <a:srgbClr val="00C6BB"/>
              </a:buClr>
              <a:buSzPct val="125000"/>
              <a:buFont typeface="Century Gothic" panose="020B0502020202020204" pitchFamily="34" charset="0"/>
              <a:buChar char="o"/>
            </a:pPr>
            <a:r>
              <a:rPr lang="en-IN"/>
              <a:t>~8.5% </a:t>
            </a:r>
            <a:r>
              <a:rPr lang="en-IN" dirty="0"/>
              <a:t>false alert rate</a:t>
            </a:r>
          </a:p>
          <a:p>
            <a:endParaRPr lang="en-IN" dirty="0"/>
          </a:p>
        </p:txBody>
      </p:sp>
    </p:spTree>
    <p:extLst>
      <p:ext uri="{BB962C8B-B14F-4D97-AF65-F5344CB8AC3E}">
        <p14:creationId xmlns:p14="http://schemas.microsoft.com/office/powerpoint/2010/main" val="3989563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2AE2E-09BF-5159-3C17-62D7B580E9A7}"/>
              </a:ext>
            </a:extLst>
          </p:cNvPr>
          <p:cNvSpPr>
            <a:spLocks noGrp="1"/>
          </p:cNvSpPr>
          <p:nvPr>
            <p:ph type="title"/>
          </p:nvPr>
        </p:nvSpPr>
        <p:spPr/>
        <p:txBody>
          <a:bodyPr/>
          <a:lstStyle/>
          <a:p>
            <a:r>
              <a:rPr lang="en-IN" b="0" dirty="0">
                <a:solidFill>
                  <a:schemeClr val="bg1">
                    <a:lumMod val="85000"/>
                    <a:lumOff val="15000"/>
                  </a:schemeClr>
                </a:solidFill>
              </a:rPr>
              <a:t> Innovation &amp; Contributions:</a:t>
            </a:r>
          </a:p>
        </p:txBody>
      </p:sp>
      <p:sp>
        <p:nvSpPr>
          <p:cNvPr id="3" name="Content Placeholder 2">
            <a:extLst>
              <a:ext uri="{FF2B5EF4-FFF2-40B4-BE49-F238E27FC236}">
                <a16:creationId xmlns:a16="http://schemas.microsoft.com/office/drawing/2014/main" id="{671FB69F-47BA-D214-59D6-FE263F84CD00}"/>
              </a:ext>
            </a:extLst>
          </p:cNvPr>
          <p:cNvSpPr>
            <a:spLocks noGrp="1"/>
          </p:cNvSpPr>
          <p:nvPr>
            <p:ph idx="1"/>
          </p:nvPr>
        </p:nvSpPr>
        <p:spPr>
          <a:xfrm>
            <a:off x="553669" y="2613226"/>
            <a:ext cx="10554574" cy="3636511"/>
          </a:xfrm>
        </p:spPr>
        <p:txBody>
          <a:bodyPr>
            <a:normAutofit fontScale="92500" lnSpcReduction="20000"/>
          </a:bodyPr>
          <a:lstStyle/>
          <a:p>
            <a:pPr>
              <a:buFont typeface="Wingdings" panose="05000000000000000000" pitchFamily="2" charset="2"/>
              <a:buChar char="q"/>
            </a:pPr>
            <a:r>
              <a:rPr lang="en-US" sz="2800" dirty="0">
                <a:solidFill>
                  <a:schemeClr val="accent2">
                    <a:lumMod val="60000"/>
                    <a:lumOff val="40000"/>
                  </a:schemeClr>
                </a:solidFill>
                <a:latin typeface="Bahnschrift Light" panose="020B0502040204020203" pitchFamily="34" charset="0"/>
              </a:rPr>
              <a:t>We pioneered a hybrid medical AI that combines CNN models with clinical algorithms for superior pattern recognition. Our system performs intelligent context-aware patient triage that understands medical urgency beyond simple data thresholds. We developed dynamic fog-cloud orchestration that automatically routes patients to optimal computing resources. This breakthrough architecture delivers 67% faster emergency response compared to traditional monitoring systems. Through rigorous clinical validation, we achieved perfect 100% critical case detection while eliminating false alarms.</a:t>
            </a:r>
            <a:endParaRPr lang="en-IN" sz="2800" dirty="0">
              <a:solidFill>
                <a:schemeClr val="accent2">
                  <a:lumMod val="60000"/>
                  <a:lumOff val="40000"/>
                </a:schemeClr>
              </a:solidFill>
              <a:latin typeface="Bahnschrift Light" panose="020B0502040204020203" pitchFamily="34" charset="0"/>
            </a:endParaRPr>
          </a:p>
        </p:txBody>
      </p:sp>
    </p:spTree>
    <p:extLst>
      <p:ext uri="{BB962C8B-B14F-4D97-AF65-F5344CB8AC3E}">
        <p14:creationId xmlns:p14="http://schemas.microsoft.com/office/powerpoint/2010/main" val="1767995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968F5-9140-29F6-8FAE-CE22CCF1B57C}"/>
              </a:ext>
            </a:extLst>
          </p:cNvPr>
          <p:cNvSpPr>
            <a:spLocks noGrp="1"/>
          </p:cNvSpPr>
          <p:nvPr>
            <p:ph type="title"/>
          </p:nvPr>
        </p:nvSpPr>
        <p:spPr>
          <a:xfrm>
            <a:off x="379304" y="513977"/>
            <a:ext cx="10571998" cy="970450"/>
          </a:xfrm>
        </p:spPr>
        <p:txBody>
          <a:bodyPr/>
          <a:lstStyle/>
          <a:p>
            <a:r>
              <a:rPr lang="en-IN" b="0" dirty="0">
                <a:solidFill>
                  <a:schemeClr val="bg1">
                    <a:lumMod val="85000"/>
                    <a:lumOff val="15000"/>
                  </a:schemeClr>
                </a:solidFill>
              </a:rPr>
              <a:t>Conclusion:</a:t>
            </a:r>
          </a:p>
        </p:txBody>
      </p:sp>
      <p:sp>
        <p:nvSpPr>
          <p:cNvPr id="3" name="Content Placeholder 2">
            <a:extLst>
              <a:ext uri="{FF2B5EF4-FFF2-40B4-BE49-F238E27FC236}">
                <a16:creationId xmlns:a16="http://schemas.microsoft.com/office/drawing/2014/main" id="{0597BDE8-9A11-D092-8A74-EBC4412D1190}"/>
              </a:ext>
            </a:extLst>
          </p:cNvPr>
          <p:cNvSpPr>
            <a:spLocks noGrp="1"/>
          </p:cNvSpPr>
          <p:nvPr>
            <p:ph idx="1"/>
          </p:nvPr>
        </p:nvSpPr>
        <p:spPr>
          <a:xfrm>
            <a:off x="540416" y="2368061"/>
            <a:ext cx="10554574" cy="3636511"/>
          </a:xfrm>
        </p:spPr>
        <p:txBody>
          <a:bodyPr>
            <a:normAutofit/>
          </a:bodyPr>
          <a:lstStyle/>
          <a:p>
            <a:pPr>
              <a:buFont typeface="Wingdings" panose="05000000000000000000" pitchFamily="2" charset="2"/>
              <a:buChar char="q"/>
            </a:pPr>
            <a:r>
              <a:rPr lang="en-US" sz="2800" dirty="0">
                <a:solidFill>
                  <a:schemeClr val="accent3">
                    <a:lumMod val="40000"/>
                    <a:lumOff val="60000"/>
                  </a:schemeClr>
                </a:solidFill>
              </a:rPr>
              <a:t>Our next-generation medical IoT platform delivers intelligent patient prioritization and superior emergency response, establishing a scalable foundation for predictive care while redefining industry standards for patient monitoring.</a:t>
            </a:r>
            <a:endParaRPr lang="en-IN" sz="2800" dirty="0">
              <a:solidFill>
                <a:schemeClr val="accent3">
                  <a:lumMod val="40000"/>
                  <a:lumOff val="60000"/>
                </a:schemeClr>
              </a:solidFill>
            </a:endParaRPr>
          </a:p>
        </p:txBody>
      </p:sp>
    </p:spTree>
    <p:extLst>
      <p:ext uri="{BB962C8B-B14F-4D97-AF65-F5344CB8AC3E}">
        <p14:creationId xmlns:p14="http://schemas.microsoft.com/office/powerpoint/2010/main" val="11177320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68988-505A-B178-C0D2-94079E35547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C3C4674-95BF-23AA-BC99-AD525054CB38}"/>
              </a:ext>
            </a:extLst>
          </p:cNvPr>
          <p:cNvSpPr>
            <a:spLocks noGrp="1"/>
          </p:cNvSpPr>
          <p:nvPr>
            <p:ph idx="1"/>
          </p:nvPr>
        </p:nvSpPr>
        <p:spPr/>
        <p:txBody>
          <a:bodyPr>
            <a:normAutofit/>
          </a:bodyPr>
          <a:lstStyle/>
          <a:p>
            <a:pPr marL="0" indent="0" algn="ctr">
              <a:buNone/>
            </a:pPr>
            <a:r>
              <a:rPr lang="en-IN" sz="11500" b="1" dirty="0">
                <a:solidFill>
                  <a:schemeClr val="accent3">
                    <a:lumMod val="60000"/>
                    <a:lumOff val="40000"/>
                  </a:schemeClr>
                </a:solidFill>
              </a:rPr>
              <a:t>Thank You..</a:t>
            </a:r>
          </a:p>
        </p:txBody>
      </p:sp>
    </p:spTree>
    <p:extLst>
      <p:ext uri="{BB962C8B-B14F-4D97-AF65-F5344CB8AC3E}">
        <p14:creationId xmlns:p14="http://schemas.microsoft.com/office/powerpoint/2010/main" val="15464398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{4486E834-20EA-465C-A33F-8D2B32AA623C}tf03457503</Template>
  <TotalTime>519</TotalTime>
  <Words>1243</Words>
  <Application>Microsoft Office PowerPoint</Application>
  <PresentationFormat>Widescreen</PresentationFormat>
  <Paragraphs>153</Paragraphs>
  <Slides>18</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18</vt:i4>
      </vt:variant>
    </vt:vector>
  </HeadingPairs>
  <TitlesOfParts>
    <vt:vector size="29" baseType="lpstr">
      <vt:lpstr>Arial</vt:lpstr>
      <vt:lpstr>Bahnschrift Light</vt:lpstr>
      <vt:lpstr>Calibri</vt:lpstr>
      <vt:lpstr>Century Gothic</vt:lpstr>
      <vt:lpstr>Courier New</vt:lpstr>
      <vt:lpstr>quote-cjk-patch</vt:lpstr>
      <vt:lpstr>TT Hoves</vt:lpstr>
      <vt:lpstr>TT Hoves Bold</vt:lpstr>
      <vt:lpstr>Wingdings</vt:lpstr>
      <vt:lpstr>Wingdings 2</vt:lpstr>
      <vt:lpstr>Quotable</vt:lpstr>
      <vt:lpstr>INTELLIGENT HEALTHCARE 4.0</vt:lpstr>
      <vt:lpstr>PROBLEM Statement  </vt:lpstr>
      <vt:lpstr>What does our edge model do ? </vt:lpstr>
      <vt:lpstr>THE IMPOSSIBLE TRIANGLE OF HEALTHCARE IOT </vt:lpstr>
      <vt:lpstr>BREAKING TRIANGLE WITH EDGE INTELLIGENCE </vt:lpstr>
      <vt:lpstr>What does our CI model do ? </vt:lpstr>
      <vt:lpstr>PowerPoint Presentation</vt:lpstr>
      <vt:lpstr> THREE-LAYER INTELLIGENT ARCHITECTURE  SENSORS &amp; DEVICES        FOG INTELLIGENCE           CLOUD ANALYTICS ───────────────   ──────────────       ──────────────── → ECG Monitors              →  ML Models                     →   Long-term Storage → Heart Rate                   →  Real-time Analysis        →   Batch Processing   → Temperature               →  Emergency Detection  →  Cost Optimization  </vt:lpstr>
      <vt:lpstr>EXPLANATION OF FLOW: </vt:lpstr>
      <vt:lpstr>CRITICAL CASES AUTOMATICALLY IDENTIFIED: </vt:lpstr>
      <vt:lpstr>Simulation Results:</vt:lpstr>
      <vt:lpstr>Memory Usage Comparision:</vt:lpstr>
      <vt:lpstr>Real World/Immediate Clinical Impact</vt:lpstr>
      <vt:lpstr>Working mechanism of CI Model </vt:lpstr>
      <vt:lpstr>Working mechanism of CI Model </vt:lpstr>
      <vt:lpstr> Innovation &amp; Contributions: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nikshith gurram</dc:creator>
  <cp:lastModifiedBy>nikshith gurram</cp:lastModifiedBy>
  <cp:revision>12</cp:revision>
  <dcterms:created xsi:type="dcterms:W3CDTF">2025-10-09T11:38:24Z</dcterms:created>
  <dcterms:modified xsi:type="dcterms:W3CDTF">2025-10-20T08:26:26Z</dcterms:modified>
</cp:coreProperties>
</file>