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6" r:id="rId1"/>
  </p:sldMasterIdLst>
  <p:sldIdLst>
    <p:sldId id="256" r:id="rId2"/>
    <p:sldId id="266" r:id="rId3"/>
    <p:sldId id="259" r:id="rId4"/>
    <p:sldId id="258" r:id="rId5"/>
    <p:sldId id="261" r:id="rId6"/>
    <p:sldId id="264" r:id="rId7"/>
    <p:sldId id="265" r:id="rId8"/>
    <p:sldId id="257" r:id="rId9"/>
    <p:sldId id="260" r:id="rId10"/>
    <p:sldId id="262" r:id="rId11"/>
    <p:sldId id="267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4660"/>
  </p:normalViewPr>
  <p:slideViewPr>
    <p:cSldViewPr snapToGrid="0">
      <p:cViewPr varScale="1">
        <p:scale>
          <a:sx n="72" d="100"/>
          <a:sy n="72" d="100"/>
        </p:scale>
        <p:origin x="855" y="3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69449-70A9-48B5-89B5-5F554143D3F7}" type="datetimeFigureOut">
              <a:rPr lang="en-IN" smtClean="0"/>
              <a:t>11-09-2025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D2DAA-55CC-4B75-8A58-FB8468996A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1173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69449-70A9-48B5-89B5-5F554143D3F7}" type="datetimeFigureOut">
              <a:rPr lang="en-IN" smtClean="0"/>
              <a:t>11-09-2025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D2DAA-55CC-4B75-8A58-FB8468996A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11831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69449-70A9-48B5-89B5-5F554143D3F7}" type="datetimeFigureOut">
              <a:rPr lang="en-IN" smtClean="0"/>
              <a:t>11-09-2025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D2DAA-55CC-4B75-8A58-FB8468996A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37498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69449-70A9-48B5-89B5-5F554143D3F7}" type="datetimeFigureOut">
              <a:rPr lang="en-IN" smtClean="0"/>
              <a:t>11-09-2025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D2DAA-55CC-4B75-8A58-FB8468996A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17016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69449-70A9-48B5-89B5-5F554143D3F7}" type="datetimeFigureOut">
              <a:rPr lang="en-IN" smtClean="0"/>
              <a:t>11-09-2025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D2DAA-55CC-4B75-8A58-FB8468996A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95192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69449-70A9-48B5-89B5-5F554143D3F7}" type="datetimeFigureOut">
              <a:rPr lang="en-IN" smtClean="0"/>
              <a:t>11-09-2025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D2DAA-55CC-4B75-8A58-FB8468996A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70165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69449-70A9-48B5-89B5-5F554143D3F7}" type="datetimeFigureOut">
              <a:rPr lang="en-IN" smtClean="0"/>
              <a:t>11-09-2025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D2DAA-55CC-4B75-8A58-FB8468996A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8087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69449-70A9-48B5-89B5-5F554143D3F7}" type="datetimeFigureOut">
              <a:rPr lang="en-IN" smtClean="0"/>
              <a:t>11-09-2025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D2DAA-55CC-4B75-8A58-FB8468996A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72980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69449-70A9-48B5-89B5-5F554143D3F7}" type="datetimeFigureOut">
              <a:rPr lang="en-IN" smtClean="0"/>
              <a:t>11-09-2025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D2DAA-55CC-4B75-8A58-FB8468996A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55768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69449-70A9-48B5-89B5-5F554143D3F7}" type="datetimeFigureOut">
              <a:rPr lang="en-IN" smtClean="0"/>
              <a:t>11-09-2025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D2DAA-55CC-4B75-8A58-FB8468996A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53983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69449-70A9-48B5-89B5-5F554143D3F7}" type="datetimeFigureOut">
              <a:rPr lang="en-IN" smtClean="0"/>
              <a:t>11-09-2025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D2DAA-55CC-4B75-8A58-FB8468996A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45790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69449-70A9-48B5-89B5-5F554143D3F7}" type="datetimeFigureOut">
              <a:rPr lang="en-IN" smtClean="0"/>
              <a:t>11-09-2025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D2DAA-55CC-4B75-8A58-FB8468996A74}" type="slidenum">
              <a:rPr lang="en-IN" smtClean="0"/>
              <a:t>‹#›</a:t>
            </a:fld>
            <a:endParaRPr lang="en-IN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425268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69449-70A9-48B5-89B5-5F554143D3F7}" type="datetimeFigureOut">
              <a:rPr lang="en-IN" smtClean="0"/>
              <a:t>11-09-2025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D2DAA-55CC-4B75-8A58-FB8468996A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733786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69449-70A9-48B5-89B5-5F554143D3F7}" type="datetimeFigureOut">
              <a:rPr lang="en-IN" smtClean="0"/>
              <a:t>11-09-2025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D2DAA-55CC-4B75-8A58-FB8468996A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39893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69449-70A9-48B5-89B5-5F554143D3F7}" type="datetimeFigureOut">
              <a:rPr lang="en-IN" smtClean="0"/>
              <a:t>11-09-2025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D2DAA-55CC-4B75-8A58-FB8468996A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185477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69449-70A9-48B5-89B5-5F554143D3F7}" type="datetimeFigureOut">
              <a:rPr lang="en-IN" smtClean="0"/>
              <a:t>11-09-2025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D2DAA-55CC-4B75-8A58-FB8468996A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959406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69449-70A9-48B5-89B5-5F554143D3F7}" type="datetimeFigureOut">
              <a:rPr lang="en-IN" smtClean="0"/>
              <a:t>11-09-2025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D2DAA-55CC-4B75-8A58-FB8468996A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956659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69449-70A9-48B5-89B5-5F554143D3F7}" type="datetimeFigureOut">
              <a:rPr lang="en-IN" smtClean="0"/>
              <a:t>11-09-2025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D2DAA-55CC-4B75-8A58-FB8468996A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8413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1CF69449-70A9-48B5-89B5-5F554143D3F7}" type="datetimeFigureOut">
              <a:rPr lang="en-IN" smtClean="0"/>
              <a:t>11-09-2025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F64D2DAA-55CC-4B75-8A58-FB8468996A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68096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  <p:sldLayoutId id="2147483768" r:id="rId12"/>
    <p:sldLayoutId id="2147483769" r:id="rId13"/>
    <p:sldLayoutId id="2147483770" r:id="rId14"/>
    <p:sldLayoutId id="2147483771" r:id="rId15"/>
    <p:sldLayoutId id="2147483772" r:id="rId16"/>
    <p:sldLayoutId id="2147483773" r:id="rId17"/>
    <p:sldLayoutId id="2147483774" r:id="rId18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49C4E9-0108-031E-3582-97F9C4FCDC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31742" y="1678472"/>
            <a:ext cx="8689976" cy="2509213"/>
          </a:xfrm>
        </p:spPr>
        <p:txBody>
          <a:bodyPr>
            <a:normAutofit fontScale="90000"/>
          </a:bodyPr>
          <a:lstStyle/>
          <a:p>
            <a:pPr algn="ctr"/>
            <a:r>
              <a:rPr lang="en-US" sz="6000" dirty="0">
                <a:latin typeface="Bahnschrift Condensed" panose="020B0502040204020203" pitchFamily="34" charset="0"/>
              </a:rPr>
              <a:t>A cloud-fog based architecture for </a:t>
            </a:r>
            <a:r>
              <a:rPr lang="en-US" sz="6000" dirty="0" err="1">
                <a:latin typeface="Bahnschrift Condensed" panose="020B0502040204020203" pitchFamily="34" charset="0"/>
              </a:rPr>
              <a:t>iot</a:t>
            </a:r>
            <a:r>
              <a:rPr lang="en-US" sz="6000" dirty="0">
                <a:latin typeface="Bahnschrift Condensed" panose="020B0502040204020203" pitchFamily="34" charset="0"/>
              </a:rPr>
              <a:t> applications dedicated to healthcare</a:t>
            </a:r>
            <a:endParaRPr lang="en-IN" sz="6000" dirty="0">
              <a:latin typeface="Bahnschrift Condensed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9401FC-84FE-9489-689B-2109F1020D8C}"/>
              </a:ext>
            </a:extLst>
          </p:cNvPr>
          <p:cNvSpPr txBox="1"/>
          <p:nvPr/>
        </p:nvSpPr>
        <p:spPr>
          <a:xfrm>
            <a:off x="1987826" y="4253948"/>
            <a:ext cx="7964556" cy="12985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215"/>
              </a:lnSpc>
            </a:pP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Monda"/>
                <a:sym typeface="Monda"/>
              </a:rPr>
              <a:t>authors: Randa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Monda"/>
                <a:sym typeface="Monda"/>
              </a:rPr>
              <a:t>M.Abdelmoneem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Monda"/>
                <a:sym typeface="Monda"/>
              </a:rPr>
              <a:t>, Abderrahim Benslimane† , Eman Shaaban , Sherin Abdelhamid and Salma Ghoneim(ICCC)</a:t>
            </a:r>
          </a:p>
          <a:p>
            <a:pPr>
              <a:lnSpc>
                <a:spcPts val="3215"/>
              </a:lnSpc>
            </a:pP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Monda"/>
                <a:sym typeface="Monda"/>
              </a:rPr>
              <a:t>journel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Monda"/>
                <a:sym typeface="Monda"/>
              </a:rPr>
              <a:t>: International Carpathian Control Conference (ICCC)</a:t>
            </a:r>
          </a:p>
        </p:txBody>
      </p:sp>
    </p:spTree>
    <p:extLst>
      <p:ext uri="{BB962C8B-B14F-4D97-AF65-F5344CB8AC3E}">
        <p14:creationId xmlns:p14="http://schemas.microsoft.com/office/powerpoint/2010/main" val="1649141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8A5D87-73F9-1627-B366-34DDDDD3DD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5BB218-EA81-250A-6C3E-5EB77538A8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main objective of this project is to develop a comprehensive IoT-Fog-Cloud architecture for real-time healthcare monitoring. The system is designed to provide efficient and reliable data processing, prioritizing a low latency response for critical tasks.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41388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69DF75-13F8-CB48-E4B1-17B65CB557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74" y="1578589"/>
            <a:ext cx="10364452" cy="3424107"/>
          </a:xfrm>
        </p:spPr>
        <p:txBody>
          <a:bodyPr/>
          <a:lstStyle/>
          <a:p>
            <a:pPr marL="0" indent="0" algn="ctr">
              <a:buNone/>
            </a:pPr>
            <a:r>
              <a:rPr lang="en-IN" sz="2800" b="1" dirty="0"/>
              <a:t>Layers:</a:t>
            </a:r>
            <a:endParaRPr lang="en-IN" sz="2400" dirty="0"/>
          </a:p>
          <a:p>
            <a:r>
              <a:rPr lang="en-IN" b="1" dirty="0"/>
              <a:t>IoT Devices:</a:t>
            </a:r>
            <a:r>
              <a:rPr lang="en-IN" dirty="0"/>
              <a:t> Sensors collecting patient data in real-time.</a:t>
            </a:r>
          </a:p>
          <a:p>
            <a:r>
              <a:rPr lang="en-IN" b="1" dirty="0"/>
              <a:t>Sink Layer:</a:t>
            </a:r>
            <a:r>
              <a:rPr lang="en-IN" dirty="0"/>
              <a:t> Gateways aggregating and filtering data.</a:t>
            </a:r>
          </a:p>
          <a:p>
            <a:r>
              <a:rPr lang="en-IN" b="1" dirty="0"/>
              <a:t>Fog Layer:</a:t>
            </a:r>
            <a:r>
              <a:rPr lang="en-IN" dirty="0"/>
              <a:t> Real-time processing, emergency detection, WSM + MBAR algorithms.</a:t>
            </a:r>
          </a:p>
          <a:p>
            <a:r>
              <a:rPr lang="en-IN" b="1" dirty="0"/>
              <a:t>Cloud Layer:</a:t>
            </a:r>
            <a:r>
              <a:rPr lang="en-IN" dirty="0"/>
              <a:t> Long-term storage, analytics, historical insights.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26495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9169E75-4C1B-459A-DDFA-670349DB784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2001" cy="6911009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ECABC26-02F0-6EC0-05AD-AB2531873CAF}"/>
              </a:ext>
            </a:extLst>
          </p:cNvPr>
          <p:cNvSpPr txBox="1"/>
          <p:nvPr/>
        </p:nvSpPr>
        <p:spPr>
          <a:xfrm>
            <a:off x="6467061" y="2093843"/>
            <a:ext cx="513521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/>
              <a:t>Revised Architecture diagram</a:t>
            </a:r>
          </a:p>
        </p:txBody>
      </p:sp>
    </p:spTree>
    <p:extLst>
      <p:ext uri="{BB962C8B-B14F-4D97-AF65-F5344CB8AC3E}">
        <p14:creationId xmlns:p14="http://schemas.microsoft.com/office/powerpoint/2010/main" val="6823149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F105CF-97DB-55C4-D4D3-C54CE2DE86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IN" sz="2800" b="1" dirty="0"/>
              <a:t> Algorithm Implementation:</a:t>
            </a:r>
          </a:p>
          <a:p>
            <a:r>
              <a:rPr lang="en-IN" dirty="0"/>
              <a:t>We have added and implemented pseudo-code for the WSM (Weighted Sum Method) and MBAR (Multi-objective Bayesian Reinforcement Learning) </a:t>
            </a:r>
            <a:r>
              <a:rPr lang="en-IN" dirty="0" err="1"/>
              <a:t>algorithms.These</a:t>
            </a:r>
            <a:r>
              <a:rPr lang="en-IN" dirty="0"/>
              <a:t> algorithms are critical for enabling efficient task scheduling and resource allocation within the Fog Layer.</a:t>
            </a:r>
          </a:p>
        </p:txBody>
      </p:sp>
    </p:spTree>
    <p:extLst>
      <p:ext uri="{BB962C8B-B14F-4D97-AF65-F5344CB8AC3E}">
        <p14:creationId xmlns:p14="http://schemas.microsoft.com/office/powerpoint/2010/main" val="29605600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BFABFF-38FB-BDF9-A11B-0C8B868EF3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74" y="1167772"/>
            <a:ext cx="10364452" cy="5325793"/>
          </a:xfrm>
        </p:spPr>
        <p:txBody>
          <a:bodyPr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3000" b="1" dirty="0"/>
              <a:t>Deep Dive: The Fog Layer</a:t>
            </a:r>
          </a:p>
          <a:p>
            <a:pPr marL="0" indent="0" algn="ctr">
              <a:buNone/>
            </a:pPr>
            <a:endParaRPr lang="en-US" sz="3000" b="1" dirty="0"/>
          </a:p>
          <a:p>
            <a:pPr marL="0" indent="0">
              <a:buNone/>
            </a:pPr>
            <a:r>
              <a:rPr lang="en-US" sz="2600" dirty="0"/>
              <a:t>The Fog Layer is where edge intelligence is applied. It is equipped with specialized modules for tasks such as: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sz="2600" dirty="0"/>
              <a:t>Data Fusion: Combining data from different sensor types (e.g., BIO and Activity data).</a:t>
            </a:r>
          </a:p>
          <a:p>
            <a:r>
              <a:rPr lang="en-US" sz="2600" dirty="0"/>
              <a:t>Detection of Anomalies: Real-time identification of abnormal patient conditions.</a:t>
            </a:r>
          </a:p>
          <a:p>
            <a:r>
              <a:rPr lang="en-US" sz="2600" dirty="0"/>
              <a:t>Resource Management: The Fog Broker dynamically schedules tasks and allocates resources to ensure optimal performance.</a:t>
            </a:r>
          </a:p>
          <a:p>
            <a:r>
              <a:rPr lang="en-US" sz="2600" dirty="0"/>
              <a:t>Task Dispatcher: Efficiently distributes processing tasks to available Fog Nodes.</a:t>
            </a:r>
            <a:endParaRPr lang="en-IN" sz="2600" dirty="0"/>
          </a:p>
        </p:txBody>
      </p:sp>
    </p:spTree>
    <p:extLst>
      <p:ext uri="{BB962C8B-B14F-4D97-AF65-F5344CB8AC3E}">
        <p14:creationId xmlns:p14="http://schemas.microsoft.com/office/powerpoint/2010/main" val="13774160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DF2614-8315-0E0A-A49C-263DA3FA2B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74" y="834887"/>
            <a:ext cx="10364452" cy="5724939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800" b="1" dirty="0"/>
              <a:t>Metrics to Evaluate: </a:t>
            </a:r>
          </a:p>
          <a:p>
            <a:pPr marL="0" indent="0" algn="ctr">
              <a:buNone/>
            </a:pPr>
            <a:endParaRPr lang="en-US" sz="2800" b="1" dirty="0"/>
          </a:p>
          <a:p>
            <a:pPr marL="0" indent="0">
              <a:buNone/>
            </a:pPr>
            <a:r>
              <a:rPr lang="en-US" dirty="0"/>
              <a:t>We will measure the following to assess our system's efficiency and reliability:</a:t>
            </a:r>
          </a:p>
          <a:p>
            <a:pPr marL="0" indent="0">
              <a:buNone/>
            </a:pPr>
            <a:endParaRPr lang="en-US" sz="2400" dirty="0"/>
          </a:p>
          <a:p>
            <a:r>
              <a:rPr lang="en-US" dirty="0"/>
              <a:t>Latency: To ensure real-time response for critical tasks.</a:t>
            </a:r>
          </a:p>
          <a:p>
            <a:r>
              <a:rPr lang="en-US" dirty="0"/>
              <a:t>Miss Ratio: To track the percentage of tasks that fail to meet their deadlines.</a:t>
            </a:r>
          </a:p>
          <a:p>
            <a:r>
              <a:rPr lang="en-US" dirty="0"/>
              <a:t>Resource Utilization: To evaluate the efficiency of our resource management.</a:t>
            </a:r>
          </a:p>
          <a:p>
            <a:r>
              <a:rPr lang="en-US" dirty="0"/>
              <a:t>Cost per Execution: To analyze the overall cost-effectiveness of our approach.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566836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EE1C0454-56FA-178D-FB5E-B5213B44A6B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5112" y="1116018"/>
            <a:ext cx="12046888" cy="36009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IN" sz="2400" b="1" dirty="0"/>
              <a:t>Simulation Plan (expanded):</a:t>
            </a:r>
            <a:br>
              <a:rPr lang="en-IN" sz="1800" dirty="0"/>
            </a:br>
            <a:r>
              <a:rPr lang="en-IN" sz="1800" dirty="0"/>
              <a:t>Specified simulator options (</a:t>
            </a:r>
            <a:r>
              <a:rPr lang="en-IN" sz="1800" dirty="0" err="1"/>
              <a:t>iFogSim</a:t>
            </a:r>
            <a:r>
              <a:rPr lang="en-IN" sz="1800" dirty="0"/>
              <a:t> or Python prototype), </a:t>
            </a:r>
            <a:r>
              <a:rPr lang="en-IN" sz="1800" b="1" dirty="0"/>
              <a:t>300 tasks</a:t>
            </a:r>
            <a:r>
              <a:rPr lang="en-IN" sz="1800" dirty="0"/>
              <a:t>, and scenarios to compare 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IN" sz="1800" dirty="0"/>
              <a:t>(Random vs WSM+MBAR).</a:t>
            </a:r>
            <a:br>
              <a:rPr lang="en-IN" sz="1800" dirty="0"/>
            </a:br>
            <a:r>
              <a:rPr lang="en-IN" sz="1800" dirty="0"/>
              <a:t>Metrics</a:t>
            </a:r>
            <a:r>
              <a:rPr lang="en-IN" sz="1800" b="1" dirty="0"/>
              <a:t>:</a:t>
            </a:r>
            <a:r>
              <a:rPr lang="en-IN" sz="1800" dirty="0"/>
              <a:t> </a:t>
            </a:r>
            <a:r>
              <a:rPr lang="en-IN" sz="1800" b="1" dirty="0"/>
              <a:t>Latency</a:t>
            </a:r>
            <a:r>
              <a:rPr lang="en-IN" sz="1800" dirty="0"/>
              <a:t>, </a:t>
            </a:r>
            <a:r>
              <a:rPr lang="en-IN" sz="1800" b="1" dirty="0"/>
              <a:t>Miss Ratio</a:t>
            </a:r>
            <a:r>
              <a:rPr lang="en-IN" sz="1800" dirty="0"/>
              <a:t>, </a:t>
            </a:r>
            <a:r>
              <a:rPr lang="en-IN" sz="1800" b="1" dirty="0"/>
              <a:t>Average Delay</a:t>
            </a:r>
            <a:r>
              <a:rPr lang="en-IN" sz="1800" dirty="0"/>
              <a:t>, </a:t>
            </a:r>
            <a:r>
              <a:rPr lang="en-IN" sz="1800" b="1" dirty="0"/>
              <a:t>Cost/Execution</a:t>
            </a:r>
            <a:r>
              <a:rPr lang="en-IN" sz="1800" dirty="0"/>
              <a:t>, </a:t>
            </a:r>
            <a:r>
              <a:rPr lang="en-IN" sz="1800" b="1" dirty="0"/>
              <a:t>Resource Utilization</a:t>
            </a:r>
            <a:r>
              <a:rPr lang="en-IN" sz="1800" dirty="0"/>
              <a:t>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br>
              <a:rPr lang="en-IN" sz="1800" dirty="0"/>
            </a:b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Edge Code Implementation (Python snippet):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Added a concise WSM (priority formula) and MBAR allocation example in Python for quick demo in the presentation.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GitHub Contributions (proof slide):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Each member’s contribution listed and placeholder for commit screenshots / links.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61965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3FE4C-8CAE-137D-D339-573DAB4E1A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0158" y="1598467"/>
            <a:ext cx="10364452" cy="3424107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n-IN" sz="2800" b="1" dirty="0"/>
              <a:t>Enhancements &amp; Key Contributions</a:t>
            </a:r>
          </a:p>
          <a:p>
            <a:r>
              <a:rPr lang="en-IN" b="1" dirty="0"/>
              <a:t>Improved Architecture Clarity</a:t>
            </a:r>
            <a:r>
              <a:rPr lang="en-IN" dirty="0"/>
              <a:t> – Refined diagram, clearer IoT → Sink → Fog → Cloud data flow.</a:t>
            </a:r>
          </a:p>
          <a:p>
            <a:r>
              <a:rPr lang="en-IN" b="1" dirty="0"/>
              <a:t>Algorithm Implementation</a:t>
            </a:r>
            <a:r>
              <a:rPr lang="en-IN" dirty="0"/>
              <a:t> – Pseudo-code for WSM &amp; MBAR integrated at Fog layer.</a:t>
            </a:r>
          </a:p>
          <a:p>
            <a:r>
              <a:rPr lang="en-IN" b="1" dirty="0"/>
              <a:t>Expanded Simulation Plan</a:t>
            </a:r>
            <a:r>
              <a:rPr lang="en-IN" dirty="0"/>
              <a:t> – Added Latency, Miss Ratio, Resource Utilization metrics.</a:t>
            </a:r>
          </a:p>
          <a:p>
            <a:r>
              <a:rPr lang="en-IN" b="1" dirty="0"/>
              <a:t>Proof of Contribution</a:t>
            </a:r>
            <a:r>
              <a:rPr lang="en-IN" dirty="0"/>
              <a:t> – GitHub commits/screenshots from all members.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018315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3F8345-4642-BD08-7870-13279CC2FC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2800" b="1" dirty="0"/>
              <a:t> Comprehensive Simulation Plan:</a:t>
            </a:r>
            <a:endParaRPr lang="en-US" b="1" dirty="0"/>
          </a:p>
          <a:p>
            <a:r>
              <a:rPr lang="en-US" dirty="0"/>
              <a:t>Our simulation plan has been expanded to include essential performance </a:t>
            </a:r>
            <a:r>
              <a:rPr lang="en-US" dirty="0" err="1"/>
              <a:t>metrics.We</a:t>
            </a:r>
            <a:r>
              <a:rPr lang="en-US" dirty="0"/>
              <a:t> now analyze Latency, Miss Ratio, and Resource Utilization to validate the effectiveness and efficiency of our architecture under various load conditions.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794411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2FEC02-E7D3-E5D4-BE0E-BB9EE5BDB1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4" y="2630911"/>
            <a:ext cx="10364451" cy="1596177"/>
          </a:xfrm>
        </p:spPr>
        <p:txBody>
          <a:bodyPr>
            <a:normAutofit/>
          </a:bodyPr>
          <a:lstStyle/>
          <a:p>
            <a:r>
              <a:rPr lang="en-IN" sz="96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711564535"/>
      </p:ext>
    </p:extLst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TM04033925[[fn=Droplet]]</Template>
  <TotalTime>2713</TotalTime>
  <Words>528</Words>
  <Application>Microsoft Office PowerPoint</Application>
  <PresentationFormat>Widescreen</PresentationFormat>
  <Paragraphs>45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Microsoft YaHei UI</vt:lpstr>
      <vt:lpstr>Arial</vt:lpstr>
      <vt:lpstr>Bahnschrift Condensed</vt:lpstr>
      <vt:lpstr>Tw Cen MT</vt:lpstr>
      <vt:lpstr>Droplet</vt:lpstr>
      <vt:lpstr>A cloud-fog based architecture for iot applications dedicated to healthcare</vt:lpstr>
      <vt:lpstr>objective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nikshith gurram</dc:creator>
  <cp:lastModifiedBy>nikshith gurram</cp:lastModifiedBy>
  <cp:revision>4</cp:revision>
  <dcterms:created xsi:type="dcterms:W3CDTF">2025-09-06T13:26:26Z</dcterms:created>
  <dcterms:modified xsi:type="dcterms:W3CDTF">2025-09-11T18:22:34Z</dcterms:modified>
</cp:coreProperties>
</file>